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213aa5-d8bd-d3c3-4059-ba6a229d7415}">
          <p14:sldIdLst>
            <p14:sldId id="256"/>
            <p14:sldId id="257"/>
            <p14:sldId id="258"/>
            <p14:sldId id="259"/>
          </p14:sldIdLst>
        </p14:section>
        <p14:section name="Architecture &amp; pipeline" id="{818a82db-1323-2d70-edc4-7e8427707087}">
          <p14:sldIdLst>
            <p14:sldId id="260"/>
            <p14:sldId id="261"/>
            <p14:sldId id="262"/>
          </p14:sldIdLst>
        </p14:section>
        <p14:section name="Platform" id="{2d7ce506-37ce-298c-2fad-458d471892eb}">
          <p14:sldIdLst>
            <p14:sldId id="263"/>
            <p14:sldId id="264"/>
            <p14:sldId id="265"/>
            <p14:sldId id="266"/>
            <p14:sldId id="267"/>
          </p14:sldIdLst>
        </p14:section>
        <p14:section name="Wrap-up" id="{ad2b79f4-50ec-7cb2-b18e-fa01bb3576c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my DevSecOps capstone project: CareDesk, a clinic management system. I'll first explain what I built and the architecture, then do a live walkthrough of the code, the CI/CD pipeline, Terraform, Argo CD, Kubernetes,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clinics often track patients and appointments on paper, which leads to double-bookings and lost history. CareDesk gives the front desk a patient registry, safe booking that blocks double-booking, and a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a three-tier application: a React frontend, a FastAPI Python backend and PostgreSQL with Alembic migrations. There are three linked tables, more than twenty REST endpoints, and 24 automated tests. Here you can see the booking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stack. Python FastAPI backend as required, React frontend, PostgreSQL. Docker and GitHub Actions for CI/CD, Trivy, Bandit and Gitleaks for security, Terraform for AWS, Kubernetes with Helm, Argo CD for GitOps, and Prometheus with Grafana for monitoring. I chose Kubernetes over plain Docker Compose because it gives self-healing, rolling updates and autoscaling.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A developer pushes to GitHub. GitHub Actions tests, scans and builds the images and pushes them to GitHub Container Registry, tagged with the commit SHA. The pipeline then commits the new tag to Git, and Argo CD syncs it into the Kubernetes cluster. Inside the cluster, the Ingress routes traffic to the frontend and backend, the backend autoscales with an HPA, and PostgreSQL keeps its data on a persistent volume. Prometheus scrapes metrics and Grafana visualises them. Terraform describes the AWS VPC and EKS cluster this would run on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CI/CD pipeline in GitHub Actions. It runs on every push to main. First tests and security scans run in parallel. Then both Docker images are built and scanned by Trivy; if there is a HIGH or CRITICAL vulnerability the pipeline stops. Images are pushed to GHCR tagged with the commit SHA, deployed to a temporary kind cluster for a smoke test, and finally the new tag is committed for Argo CD. I also tested the quality gate by pushing a broken test: the pipeline went red and no image was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runs at five layers: Bandit for my own code, pip-audit and npm audit for dependencies, Gitleaks for secrets in the Git history, Trivy config for infrastructure files, and Trivy image scans as a gate. The first scan actually found 47 HIGH vulnerabilities, mostly in base images. I fixed them by running apk upgrade in the frontend image and removing pip from the backend image. Now both images scan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Docker images run as non-root users, and the frontend uses a multi-stage build, so build tools never reach the runtime image. In Kubernetes, the app runs from a Helm chart: two backend and two frontend pods, PostgreSQL as a StatefulSet with a persistent volume, ClusterIP services, an Ingress, autoscalers, liveness and readiness probes, and a ConfigMap and Secret for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reachable through the nginx Ingress at clinic.local: slash goes to the frontend, slash api to the backend. To test autoscaling I generated load inside the cluster; CPU went to 279 percent of the target, and the Horizontal Pod Autoscaler scaled the backend from 2 to 6 pods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the AWS infrastructure: a VPC with two public and two private subnets, a NAT gateway, and an EKS cluster with a managed node group. I ran init, validate and plan against a real AWS account, and the plan shows 60 resources. I did not run apply, because EKS and the NAT gateway are not covered by the free tier and the account must not be charged. No credentials are committed to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observability, the backend exposes Prometheus metrics. A ServiceMonitor tells Prometheus to scrape every backend pod every 15 seconds. The Grafana dashboard is created automatically from the Helm chart and shows requests per second, error rate, latency, CPU, memory and replicas. There are also three alert rules, and a business metric for appointments booked.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GitOps, the pipeline never runs kubectl against the cluster. It only commits the new image tag to Git. Argo CD, running inside the cluster, notices the change and rolls it out. Self-heal is on, so if someone changes the cluster by hand, Argo CD puts it back to what Git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enforced automatically: 24 tests, five security scanners and a zero-HIGH-CVE rule. To prove the gate works, I pushed a broken test on purpose. The pipeline stopped at the test job and nothing was built or deployed. After reverting, it went green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main lessons: readiness and liveness are different checks, startup order matters in Kubernetes, security scanners find real problems, and tagging images with the commit SHA makes every deployment traceable. Next steps would be a managed RDS database, TLS, staff login and central logging. Now let me show everything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17320"/>
            <a:ext cx="429768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457200" y="2377440"/>
            <a:ext cx="41148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6"/>
                </a:solidFill>
              </a:rPr>
              <a:t>CareDesk · DevSecOps Capstone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4.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51560"/>
            <a:ext cx="4206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DEVSECOPS CAPSTONE · SESSION 21</a:t>
            </a:r>
            <a:endParaRPr lang="en-US" sz="1200" dirty="0"/>
          </a:p>
        </p:txBody>
      </p:sp>
      <p:sp>
        <p:nvSpPr>
          <p:cNvPr id="3" name="Text 0"/>
          <p:cNvSpPr/>
          <p:nvPr>
            <p:ph idx="100" type="title" hasCustomPrompt="1"/>
          </p:nvPr>
        </p:nvSpPr>
        <p:spPr>
          <a:xfrm>
            <a:off x="457200" y="1417320"/>
            <a:ext cx="4297680" cy="914400"/>
          </a:xfrm>
          <a:prstGeom prst="rect">
            <a:avLst/>
          </a:prstGeom>
          <a:noFill/>
          <a:ln/>
        </p:spPr>
        <p:txBody>
          <a:bodyPr wrap="square" lIns="0" tIns="0" rIns="0" bIns="0" rtlCol="0" anchor="t"/>
          <a:lstStyle/>
          <a:p>
            <a:pPr algn="l" indent="0" marL="0">
              <a:buNone/>
            </a:pPr>
            <a:r>
              <a:rPr lang="en-US" sz="4400" b="1" dirty="0">
                <a:solidFill>
                  <a:schemeClr val="bg1"/>
                </a:solidFill>
              </a:rPr>
              <a:t>CareDesk</a:t>
            </a:r>
            <a:endParaRPr lang="en-US" sz="4400" dirty="0"/>
          </a:p>
        </p:txBody>
      </p:sp>
      <p:sp>
        <p:nvSpPr>
          <p:cNvPr id="4" name="Text 0"/>
          <p:cNvSpPr/>
          <p:nvPr>
            <p:ph idx="101" type="body" hasCustomPrompt="1"/>
          </p:nvPr>
        </p:nvSpPr>
        <p:spPr>
          <a:xfrm>
            <a:off x="457200" y="2377440"/>
            <a:ext cx="4114800" cy="914400"/>
          </a:xfrm>
          <a:prstGeom prst="rect">
            <a:avLst/>
          </a:prstGeom>
          <a:noFill/>
          <a:ln/>
        </p:spPr>
        <p:txBody>
          <a:bodyPr wrap="square" lIns="0" tIns="0" rIns="0" bIns="0" rtlCol="0" anchor="t"/>
          <a:lstStyle/>
          <a:p>
            <a:pPr algn="l" indent="0" marL="0">
              <a:buNone/>
            </a:pPr>
            <a:r>
              <a:rPr lang="en-US" sz="1800" dirty="0">
                <a:solidFill>
                  <a:schemeClr val="bg2"/>
                </a:solidFill>
              </a:rPr>
              <a:t>A clinic management app, delivered end to end by a full DevSecOps pipeline</a:t>
            </a:r>
            <a:endParaRPr lang="en-US" sz="1800" dirty="0"/>
          </a:p>
        </p:txBody>
      </p:sp>
      <p:sp>
        <p:nvSpPr>
          <p:cNvPr id="5" name="Text 3"/>
          <p:cNvSpPr txBox="1"/>
          <p:nvPr/>
        </p:nvSpPr>
        <p:spPr>
          <a:xfrm>
            <a:off x="457200" y="4343400"/>
            <a:ext cx="4206240" cy="274320"/>
          </a:xfrm>
          <a:prstGeom prst="rect">
            <a:avLst/>
          </a:prstGeom>
          <a:noFill/>
          <a:ln/>
        </p:spPr>
        <p:txBody>
          <a:bodyPr wrap="square" lIns="0" tIns="0" rIns="0" bIns="0" rtlCol="0" anchor="t"/>
          <a:lstStyle/>
          <a:p>
            <a:pPr indent="0" marL="0">
              <a:buNone/>
            </a:pPr>
            <a:r>
              <a:rPr lang="en-US" sz="1200" dirty="0">
                <a:solidFill>
                  <a:schemeClr val="bg2"/>
                </a:solidFill>
              </a:rPr>
              <a:t>github.com/aryen1101/clinic_managment_devops</a:t>
            </a:r>
            <a:endParaRPr lang="en-US" sz="1200" dirty="0"/>
          </a:p>
        </p:txBody>
      </p:sp>
      <p:sp>
        <p:nvSpPr>
          <p:cNvPr id="6" name="frame-m1-ui-dashboard.png"/>
          <p:cNvSpPr/>
          <p:nvPr/>
        </p:nvSpPr>
        <p:spPr>
          <a:xfrm>
            <a:off x="4855464" y="1480190"/>
            <a:ext cx="3959352" cy="2160260"/>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7" name="shot-m1-ui-dashboard.png" descr="CareDesk dashboard">    </p:cNvPr>
          <p:cNvPicPr>
            <a:picLocks noChangeAspect="1"/>
          </p:cNvPicPr>
          <p:nvPr/>
        </p:nvPicPr>
        <p:blipFill>
          <a:blip r:embed="rId1"/>
          <a:stretch>
            <a:fillRect/>
          </a:stretch>
        </p:blipFill>
        <p:spPr>
          <a:xfrm>
            <a:off x="4892040" y="1516766"/>
            <a:ext cx="3886200" cy="20871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The problem CareDesk solves</a:t>
            </a:r>
            <a:endParaRPr lang="en-US" sz="3200" dirty="0"/>
          </a:p>
        </p:txBody>
      </p:sp>
      <p:sp>
        <p:nvSpPr>
          <p:cNvPr id="3" name="problem-card"/>
          <p:cNvSpPr/>
          <p:nvPr/>
        </p:nvSpPr>
        <p:spPr>
          <a:xfrm>
            <a:off x="457200" y="1188720"/>
            <a:ext cx="3749040" cy="3291840"/>
          </a:xfrm>
          <a:prstGeom prst="roundRect">
            <a:avLst>
              <a:gd name="adj" fmla="val 2222"/>
            </a:avLst>
          </a:prstGeom>
          <a:solidFill>
            <a:schemeClr val="bg2"/>
          </a:solidFill>
          <a:ln/>
        </p:spPr>
      </p:sp>
      <p:sp>
        <p:nvSpPr>
          <p:cNvPr id="4" name="Text 2"/>
          <p:cNvSpPr txBox="1"/>
          <p:nvPr/>
        </p:nvSpPr>
        <p:spPr>
          <a:xfrm>
            <a:off x="685800" y="1371600"/>
            <a:ext cx="3291840" cy="320040"/>
          </a:xfrm>
          <a:prstGeom prst="rect">
            <a:avLst/>
          </a:prstGeom>
          <a:noFill/>
          <a:ln/>
        </p:spPr>
        <p:txBody>
          <a:bodyPr wrap="square" lIns="0" tIns="0" rIns="0" bIns="0" rtlCol="0" anchor="t"/>
          <a:lstStyle/>
          <a:p>
            <a:pPr indent="0" marL="0">
              <a:buNone/>
            </a:pPr>
            <a:r>
              <a:rPr lang="en-US" sz="1600" b="1" dirty="0">
                <a:solidFill>
                  <a:schemeClr val="accent2"/>
                </a:solidFill>
              </a:rPr>
              <a:t>Small clinics today</a:t>
            </a:r>
            <a:endParaRPr lang="en-US" sz="1600" dirty="0"/>
          </a:p>
        </p:txBody>
      </p:sp>
      <p:sp>
        <p:nvSpPr>
          <p:cNvPr id="5" name="icon-bg-FaBook"/>
          <p:cNvSpPr/>
          <p:nvPr/>
        </p:nvSpPr>
        <p:spPr>
          <a:xfrm>
            <a:off x="685800" y="1874520"/>
            <a:ext cx="384048" cy="384048"/>
          </a:xfrm>
          <a:prstGeom prst="ellipse">
            <a:avLst/>
          </a:prstGeom>
          <a:solidFill>
            <a:schemeClr val="accent2"/>
          </a:solidFill>
          <a:ln/>
        </p:spPr>
      </p:sp>
      <p:pic>
        <p:nvPicPr>
          <p:cNvPr id="6" name="icon-FaBook" descr="preencoded.png">    </p:cNvPr>
          <p:cNvPicPr>
            <a:picLocks noChangeAspect="1"/>
          </p:cNvPicPr>
          <p:nvPr/>
        </p:nvPicPr>
        <p:blipFill>
          <a:blip r:embed="rId1"/>
          <a:stretch>
            <a:fillRect/>
          </a:stretch>
        </p:blipFill>
        <p:spPr>
          <a:xfrm>
            <a:off x="777972" y="1966692"/>
            <a:ext cx="199705" cy="199705"/>
          </a:xfrm>
          <a:prstGeom prst="rect">
            <a:avLst/>
          </a:prstGeom>
        </p:spPr>
      </p:pic>
      <p:sp>
        <p:nvSpPr>
          <p:cNvPr id="7" name="Text 4"/>
          <p:cNvSpPr txBox="1"/>
          <p:nvPr/>
        </p:nvSpPr>
        <p:spPr>
          <a:xfrm>
            <a:off x="1188720" y="1856232"/>
            <a:ext cx="2880360" cy="566928"/>
          </a:xfrm>
          <a:prstGeom prst="rect">
            <a:avLst/>
          </a:prstGeom>
          <a:noFill/>
          <a:ln/>
        </p:spPr>
        <p:txBody>
          <a:bodyPr wrap="square" lIns="0" tIns="0" rIns="0" bIns="0" rtlCol="0" anchor="t"/>
          <a:lstStyle/>
          <a:p>
            <a:pPr indent="0" marL="0">
              <a:buNone/>
            </a:pPr>
            <a:r>
              <a:rPr lang="en-US" sz="1400" b="1" dirty="0">
                <a:solidFill>
                  <a:schemeClr val="tx1"/>
                </a:solidFill>
              </a:rPr>
              <a:t>Paper registers</a:t>
            </a:r>
            <a:endParaRPr lang="en-US" sz="1400" dirty="0"/>
          </a:p>
          <a:p>
            <a:pPr indent="0" marL="0">
              <a:buNone/>
            </a:pPr>
            <a:r>
              <a:rPr lang="en-US" sz="1200" dirty="0">
                <a:solidFill>
                  <a:schemeClr val="accent6"/>
                </a:solidFill>
              </a:rPr>
              <a:t>Patient details and visits are hard to find</a:t>
            </a:r>
            <a:endParaRPr lang="en-US" sz="1400" dirty="0"/>
          </a:p>
        </p:txBody>
      </p:sp>
      <p:sp>
        <p:nvSpPr>
          <p:cNvPr id="8" name="icon-bg-FaUserClock"/>
          <p:cNvSpPr/>
          <p:nvPr/>
        </p:nvSpPr>
        <p:spPr>
          <a:xfrm>
            <a:off x="685800" y="2697480"/>
            <a:ext cx="384048" cy="384048"/>
          </a:xfrm>
          <a:prstGeom prst="ellipse">
            <a:avLst/>
          </a:prstGeom>
          <a:solidFill>
            <a:schemeClr val="accent2"/>
          </a:solidFill>
          <a:ln/>
        </p:spPr>
      </p:sp>
      <p:pic>
        <p:nvPicPr>
          <p:cNvPr id="9" name="icon-FaUserClock" descr="preencoded.png">    </p:cNvPr>
          <p:cNvPicPr>
            <a:picLocks noChangeAspect="1"/>
          </p:cNvPicPr>
          <p:nvPr/>
        </p:nvPicPr>
        <p:blipFill>
          <a:blip r:embed="rId2"/>
          <a:stretch>
            <a:fillRect/>
          </a:stretch>
        </p:blipFill>
        <p:spPr>
          <a:xfrm>
            <a:off x="777972" y="2789652"/>
            <a:ext cx="199705" cy="199705"/>
          </a:xfrm>
          <a:prstGeom prst="rect">
            <a:avLst/>
          </a:prstGeom>
        </p:spPr>
      </p:pic>
      <p:sp>
        <p:nvSpPr>
          <p:cNvPr id="10" name="Text 6"/>
          <p:cNvSpPr txBox="1"/>
          <p:nvPr/>
        </p:nvSpPr>
        <p:spPr>
          <a:xfrm>
            <a:off x="1188720" y="2679192"/>
            <a:ext cx="2880360" cy="566928"/>
          </a:xfrm>
          <a:prstGeom prst="rect">
            <a:avLst/>
          </a:prstGeom>
          <a:noFill/>
          <a:ln/>
        </p:spPr>
        <p:txBody>
          <a:bodyPr wrap="square" lIns="0" tIns="0" rIns="0" bIns="0" rtlCol="0" anchor="t"/>
          <a:lstStyle/>
          <a:p>
            <a:pPr indent="0" marL="0">
              <a:buNone/>
            </a:pPr>
            <a:r>
              <a:rPr lang="en-US" sz="1400" b="1" dirty="0">
                <a:solidFill>
                  <a:schemeClr val="tx1"/>
                </a:solidFill>
              </a:rPr>
              <a:t>Double-booked doctors</a:t>
            </a:r>
            <a:endParaRPr lang="en-US" sz="1400" dirty="0"/>
          </a:p>
          <a:p>
            <a:pPr indent="0" marL="0">
              <a:buNone/>
            </a:pPr>
            <a:r>
              <a:rPr lang="en-US" sz="1200" dirty="0">
                <a:solidFill>
                  <a:schemeClr val="accent6"/>
                </a:solidFill>
              </a:rPr>
              <a:t>Two patients get the same slot</a:t>
            </a:r>
            <a:endParaRPr lang="en-US" sz="1400" dirty="0"/>
          </a:p>
        </p:txBody>
      </p:sp>
      <p:sp>
        <p:nvSpPr>
          <p:cNvPr id="11" name="icon-bg-FaQuestionCircle"/>
          <p:cNvSpPr/>
          <p:nvPr/>
        </p:nvSpPr>
        <p:spPr>
          <a:xfrm>
            <a:off x="685800" y="3520440"/>
            <a:ext cx="384048" cy="384048"/>
          </a:xfrm>
          <a:prstGeom prst="ellipse">
            <a:avLst/>
          </a:prstGeom>
          <a:solidFill>
            <a:schemeClr val="accent2"/>
          </a:solidFill>
          <a:ln/>
        </p:spPr>
      </p:sp>
      <p:pic>
        <p:nvPicPr>
          <p:cNvPr id="12" name="icon-FaQuestionCircle" descr="preencoded.png">    </p:cNvPr>
          <p:cNvPicPr>
            <a:picLocks noChangeAspect="1"/>
          </p:cNvPicPr>
          <p:nvPr/>
        </p:nvPicPr>
        <p:blipFill>
          <a:blip r:embed="rId3"/>
          <a:stretch>
            <a:fillRect/>
          </a:stretch>
        </p:blipFill>
        <p:spPr>
          <a:xfrm>
            <a:off x="777972" y="3612612"/>
            <a:ext cx="199705" cy="199705"/>
          </a:xfrm>
          <a:prstGeom prst="rect">
            <a:avLst/>
          </a:prstGeom>
        </p:spPr>
      </p:pic>
      <p:sp>
        <p:nvSpPr>
          <p:cNvPr id="13" name="Text 8"/>
          <p:cNvSpPr txBox="1"/>
          <p:nvPr/>
        </p:nvSpPr>
        <p:spPr>
          <a:xfrm>
            <a:off x="1188720" y="3502152"/>
            <a:ext cx="2880360" cy="566928"/>
          </a:xfrm>
          <a:prstGeom prst="rect">
            <a:avLst/>
          </a:prstGeom>
          <a:noFill/>
          <a:ln/>
        </p:spPr>
        <p:txBody>
          <a:bodyPr wrap="square" lIns="0" tIns="0" rIns="0" bIns="0" rtlCol="0" anchor="t"/>
          <a:lstStyle/>
          <a:p>
            <a:pPr indent="0" marL="0">
              <a:buNone/>
            </a:pPr>
            <a:r>
              <a:rPr lang="en-US" sz="1400" b="1" dirty="0">
                <a:solidFill>
                  <a:schemeClr val="tx1"/>
                </a:solidFill>
              </a:rPr>
              <a:t>No overview</a:t>
            </a:r>
            <a:endParaRPr lang="en-US" sz="1400" dirty="0"/>
          </a:p>
          <a:p>
            <a:pPr indent="0" marL="0">
              <a:buNone/>
            </a:pPr>
            <a:r>
              <a:rPr lang="en-US" sz="1200" dirty="0">
                <a:solidFill>
                  <a:schemeClr val="accent6"/>
                </a:solidFill>
              </a:rPr>
              <a:t>Nobody sees today's schedule at a glance</a:t>
            </a:r>
            <a:endParaRPr lang="en-US" sz="1400" dirty="0"/>
          </a:p>
        </p:txBody>
      </p:sp>
      <p:sp>
        <p:nvSpPr>
          <p:cNvPr id="14" name="Shape 9"/>
          <p:cNvSpPr/>
          <p:nvPr/>
        </p:nvSpPr>
        <p:spPr>
          <a:xfrm>
            <a:off x="4315968" y="2834640"/>
            <a:ext cx="457200" cy="0"/>
          </a:xfrm>
          <a:prstGeom prst="line">
            <a:avLst/>
          </a:prstGeom>
          <a:noFill/>
          <a:ln w="19050">
            <a:solidFill>
              <a:srgbClr val="0F8B8D"/>
            </a:solidFill>
            <a:prstDash val="solid"/>
            <a:tailEnd type="triangle"/>
          </a:ln>
        </p:spPr>
      </p:sp>
      <p:sp>
        <p:nvSpPr>
          <p:cNvPr id="15" name="solution-card"/>
          <p:cNvSpPr/>
          <p:nvPr/>
        </p:nvSpPr>
        <p:spPr>
          <a:xfrm>
            <a:off x="4892040" y="1188720"/>
            <a:ext cx="3794760" cy="3291840"/>
          </a:xfrm>
          <a:prstGeom prst="roundRect">
            <a:avLst>
              <a:gd name="adj" fmla="val 2222"/>
            </a:avLst>
          </a:prstGeom>
          <a:solidFill>
            <a:schemeClr val="bg2"/>
          </a:solidFill>
          <a:ln/>
        </p:spPr>
      </p:sp>
      <p:sp>
        <p:nvSpPr>
          <p:cNvPr id="16" name="Text 11"/>
          <p:cNvSpPr txBox="1"/>
          <p:nvPr/>
        </p:nvSpPr>
        <p:spPr>
          <a:xfrm>
            <a:off x="5120640" y="1371600"/>
            <a:ext cx="3291840" cy="320040"/>
          </a:xfrm>
          <a:prstGeom prst="rect">
            <a:avLst/>
          </a:prstGeom>
          <a:noFill/>
          <a:ln/>
        </p:spPr>
        <p:txBody>
          <a:bodyPr wrap="square" lIns="0" tIns="0" rIns="0" bIns="0" rtlCol="0" anchor="t"/>
          <a:lstStyle/>
          <a:p>
            <a:pPr indent="0" marL="0">
              <a:buNone/>
            </a:pPr>
            <a:r>
              <a:rPr lang="en-US" sz="1600" b="1" dirty="0">
                <a:solidFill>
                  <a:schemeClr val="accent1"/>
                </a:solidFill>
              </a:rPr>
              <a:t>With CareDesk</a:t>
            </a:r>
            <a:endParaRPr lang="en-US" sz="1600" dirty="0"/>
          </a:p>
        </p:txBody>
      </p:sp>
      <p:sp>
        <p:nvSpPr>
          <p:cNvPr id="17" name="icon-bg-FaUserInjured"/>
          <p:cNvSpPr/>
          <p:nvPr/>
        </p:nvSpPr>
        <p:spPr>
          <a:xfrm>
            <a:off x="5120640" y="1874520"/>
            <a:ext cx="384048" cy="384048"/>
          </a:xfrm>
          <a:prstGeom prst="ellipse">
            <a:avLst/>
          </a:prstGeom>
          <a:solidFill>
            <a:schemeClr val="accent1"/>
          </a:solidFill>
          <a:ln/>
        </p:spPr>
      </p:sp>
      <p:pic>
        <p:nvPicPr>
          <p:cNvPr id="18" name="icon-FaUserInjured" descr="preencoded.png">    </p:cNvPr>
          <p:cNvPicPr>
            <a:picLocks noChangeAspect="1"/>
          </p:cNvPicPr>
          <p:nvPr/>
        </p:nvPicPr>
        <p:blipFill>
          <a:blip r:embed="rId4"/>
          <a:stretch>
            <a:fillRect/>
          </a:stretch>
        </p:blipFill>
        <p:spPr>
          <a:xfrm>
            <a:off x="5212812" y="1966692"/>
            <a:ext cx="199705" cy="199705"/>
          </a:xfrm>
          <a:prstGeom prst="rect">
            <a:avLst/>
          </a:prstGeom>
        </p:spPr>
      </p:pic>
      <p:sp>
        <p:nvSpPr>
          <p:cNvPr id="19" name="Text 13"/>
          <p:cNvSpPr txBox="1"/>
          <p:nvPr/>
        </p:nvSpPr>
        <p:spPr>
          <a:xfrm>
            <a:off x="5623560" y="1856232"/>
            <a:ext cx="2926080" cy="566928"/>
          </a:xfrm>
          <a:prstGeom prst="rect">
            <a:avLst/>
          </a:prstGeom>
          <a:noFill/>
          <a:ln/>
        </p:spPr>
        <p:txBody>
          <a:bodyPr wrap="square" lIns="0" tIns="0" rIns="0" bIns="0" rtlCol="0" anchor="t"/>
          <a:lstStyle/>
          <a:p>
            <a:pPr indent="0" marL="0">
              <a:buNone/>
            </a:pPr>
            <a:r>
              <a:rPr lang="en-US" sz="1400" b="1" dirty="0">
                <a:solidFill>
                  <a:schemeClr val="tx1"/>
                </a:solidFill>
              </a:rPr>
              <a:t>Patient registry</a:t>
            </a:r>
            <a:endParaRPr lang="en-US" sz="1400" dirty="0"/>
          </a:p>
          <a:p>
            <a:pPr indent="0" marL="0">
              <a:buNone/>
            </a:pPr>
            <a:r>
              <a:rPr lang="en-US" sz="1200" dirty="0">
                <a:solidFill>
                  <a:schemeClr val="accent6"/>
                </a:solidFill>
              </a:rPr>
              <a:t>Search, profiles and full visit history</a:t>
            </a:r>
            <a:endParaRPr lang="en-US" sz="1400" dirty="0"/>
          </a:p>
        </p:txBody>
      </p:sp>
      <p:sp>
        <p:nvSpPr>
          <p:cNvPr id="20" name="icon-bg-FaCalendarCheck"/>
          <p:cNvSpPr/>
          <p:nvPr/>
        </p:nvSpPr>
        <p:spPr>
          <a:xfrm>
            <a:off x="5120640" y="2697480"/>
            <a:ext cx="384048" cy="384048"/>
          </a:xfrm>
          <a:prstGeom prst="ellipse">
            <a:avLst/>
          </a:prstGeom>
          <a:solidFill>
            <a:schemeClr val="accent1"/>
          </a:solidFill>
          <a:ln/>
        </p:spPr>
      </p:sp>
      <p:pic>
        <p:nvPicPr>
          <p:cNvPr id="21" name="icon-FaCalendarCheck" descr="preencoded.png">    </p:cNvPr>
          <p:cNvPicPr>
            <a:picLocks noChangeAspect="1"/>
          </p:cNvPicPr>
          <p:nvPr/>
        </p:nvPicPr>
        <p:blipFill>
          <a:blip r:embed="rId5"/>
          <a:stretch>
            <a:fillRect/>
          </a:stretch>
        </p:blipFill>
        <p:spPr>
          <a:xfrm>
            <a:off x="5212812" y="2789652"/>
            <a:ext cx="199705" cy="199705"/>
          </a:xfrm>
          <a:prstGeom prst="rect">
            <a:avLst/>
          </a:prstGeom>
        </p:spPr>
      </p:pic>
      <p:sp>
        <p:nvSpPr>
          <p:cNvPr id="22" name="Text 15"/>
          <p:cNvSpPr txBox="1"/>
          <p:nvPr/>
        </p:nvSpPr>
        <p:spPr>
          <a:xfrm>
            <a:off x="5623560" y="2679192"/>
            <a:ext cx="2926080" cy="566928"/>
          </a:xfrm>
          <a:prstGeom prst="rect">
            <a:avLst/>
          </a:prstGeom>
          <a:noFill/>
          <a:ln/>
        </p:spPr>
        <p:txBody>
          <a:bodyPr wrap="square" lIns="0" tIns="0" rIns="0" bIns="0" rtlCol="0" anchor="t"/>
          <a:lstStyle/>
          <a:p>
            <a:pPr indent="0" marL="0">
              <a:buNone/>
            </a:pPr>
            <a:r>
              <a:rPr lang="en-US" sz="1400" b="1" dirty="0">
                <a:solidFill>
                  <a:schemeClr val="tx1"/>
                </a:solidFill>
              </a:rPr>
              <a:t>Safe booking</a:t>
            </a:r>
            <a:endParaRPr lang="en-US" sz="1400" dirty="0"/>
          </a:p>
          <a:p>
            <a:pPr indent="0" marL="0">
              <a:buNone/>
            </a:pPr>
            <a:r>
              <a:rPr lang="en-US" sz="1200" dirty="0">
                <a:solidFill>
                  <a:schemeClr val="accent6"/>
                </a:solidFill>
              </a:rPr>
              <a:t>A doctor can never be double-booked (HTTP 409)</a:t>
            </a:r>
            <a:endParaRPr lang="en-US" sz="1400" dirty="0"/>
          </a:p>
        </p:txBody>
      </p:sp>
      <p:sp>
        <p:nvSpPr>
          <p:cNvPr id="23" name="icon-bg-FaTachometerAlt"/>
          <p:cNvSpPr/>
          <p:nvPr/>
        </p:nvSpPr>
        <p:spPr>
          <a:xfrm>
            <a:off x="5120640" y="3520440"/>
            <a:ext cx="384048" cy="384048"/>
          </a:xfrm>
          <a:prstGeom prst="ellipse">
            <a:avLst/>
          </a:prstGeom>
          <a:solidFill>
            <a:schemeClr val="accent1"/>
          </a:solidFill>
          <a:ln/>
        </p:spPr>
      </p:sp>
      <p:pic>
        <p:nvPicPr>
          <p:cNvPr id="24" name="icon-FaTachometerAlt" descr="preencoded.png">    </p:cNvPr>
          <p:cNvPicPr>
            <a:picLocks noChangeAspect="1"/>
          </p:cNvPicPr>
          <p:nvPr/>
        </p:nvPicPr>
        <p:blipFill>
          <a:blip r:embed="rId6"/>
          <a:stretch>
            <a:fillRect/>
          </a:stretch>
        </p:blipFill>
        <p:spPr>
          <a:xfrm>
            <a:off x="5212812" y="3612612"/>
            <a:ext cx="199705" cy="199705"/>
          </a:xfrm>
          <a:prstGeom prst="rect">
            <a:avLst/>
          </a:prstGeom>
        </p:spPr>
      </p:pic>
      <p:sp>
        <p:nvSpPr>
          <p:cNvPr id="25" name="Text 17"/>
          <p:cNvSpPr txBox="1"/>
          <p:nvPr/>
        </p:nvSpPr>
        <p:spPr>
          <a:xfrm>
            <a:off x="5623560" y="3502152"/>
            <a:ext cx="2926080" cy="566928"/>
          </a:xfrm>
          <a:prstGeom prst="rect">
            <a:avLst/>
          </a:prstGeom>
          <a:noFill/>
          <a:ln/>
        </p:spPr>
        <p:txBody>
          <a:bodyPr wrap="square" lIns="0" tIns="0" rIns="0" bIns="0" rtlCol="0" anchor="t"/>
          <a:lstStyle/>
          <a:p>
            <a:pPr indent="0" marL="0">
              <a:buNone/>
            </a:pPr>
            <a:r>
              <a:rPr lang="en-US" sz="1400" b="1" dirty="0">
                <a:solidFill>
                  <a:schemeClr val="tx1"/>
                </a:solidFill>
              </a:rPr>
              <a:t>Live dashboard</a:t>
            </a:r>
            <a:endParaRPr lang="en-US" sz="1400" dirty="0"/>
          </a:p>
          <a:p>
            <a:pPr indent="0" marL="0">
              <a:buNone/>
            </a:pPr>
            <a:r>
              <a:rPr lang="en-US" sz="1200" dirty="0">
                <a:solidFill>
                  <a:schemeClr val="accent6"/>
                </a:solidFill>
              </a:rPr>
              <a:t>Today's appointments, status and system health</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What I built</a:t>
            </a:r>
            <a:endParaRPr lang="en-US" sz="3200" dirty="0"/>
          </a:p>
        </p:txBody>
      </p:sp>
      <p:sp>
        <p:nvSpPr>
          <p:cNvPr id="3" name="frame-m1-ui-create.png"/>
          <p:cNvSpPr/>
          <p:nvPr/>
        </p:nvSpPr>
        <p:spPr>
          <a:xfrm>
            <a:off x="420624" y="1436151"/>
            <a:ext cx="4919472" cy="2796977"/>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4" name="shot-m1-ui-create.png" descr="Booking an appointment">    </p:cNvPr>
          <p:cNvPicPr>
            <a:picLocks noChangeAspect="1"/>
          </p:cNvPicPr>
          <p:nvPr/>
        </p:nvPicPr>
        <p:blipFill>
          <a:blip r:embed="rId1"/>
          <a:stretch>
            <a:fillRect/>
          </a:stretch>
        </p:blipFill>
        <p:spPr>
          <a:xfrm>
            <a:off x="457200" y="1472727"/>
            <a:ext cx="4846320" cy="2723825"/>
          </a:xfrm>
          <a:prstGeom prst="rect">
            <a:avLst/>
          </a:prstGeom>
        </p:spPr>
      </p:pic>
      <p:sp>
        <p:nvSpPr>
          <p:cNvPr id="5" name="Text 2"/>
          <p:cNvSpPr txBox="1"/>
          <p:nvPr/>
        </p:nvSpPr>
        <p:spPr>
          <a:xfrm>
            <a:off x="5669280" y="1097280"/>
            <a:ext cx="301752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6" name="Text 3"/>
          <p:cNvSpPr txBox="1"/>
          <p:nvPr/>
        </p:nvSpPr>
        <p:spPr>
          <a:xfrm>
            <a:off x="5669280" y="1783080"/>
            <a:ext cx="3017520" cy="457200"/>
          </a:xfrm>
          <a:prstGeom prst="rect">
            <a:avLst/>
          </a:prstGeom>
          <a:noFill/>
          <a:ln/>
        </p:spPr>
        <p:txBody>
          <a:bodyPr wrap="square" lIns="0" tIns="0" rIns="0" bIns="0" rtlCol="0" anchor="t"/>
          <a:lstStyle/>
          <a:p>
            <a:pPr indent="0" marL="0">
              <a:buNone/>
            </a:pPr>
            <a:r>
              <a:rPr lang="en-US" sz="1200" dirty="0">
                <a:solidFill>
                  <a:schemeClr val="accent6"/>
                </a:solidFill>
              </a:rPr>
              <a:t>linked tables: patients, doctors, appointments</a:t>
            </a:r>
            <a:endParaRPr lang="en-US" sz="1200" dirty="0"/>
          </a:p>
        </p:txBody>
      </p:sp>
      <p:sp>
        <p:nvSpPr>
          <p:cNvPr id="7" name="Text 4"/>
          <p:cNvSpPr txBox="1"/>
          <p:nvPr/>
        </p:nvSpPr>
        <p:spPr>
          <a:xfrm>
            <a:off x="5669280" y="2194560"/>
            <a:ext cx="301752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8" name="Text 5"/>
          <p:cNvSpPr txBox="1"/>
          <p:nvPr/>
        </p:nvSpPr>
        <p:spPr>
          <a:xfrm>
            <a:off x="5669280" y="2880360"/>
            <a:ext cx="3017520" cy="457200"/>
          </a:xfrm>
          <a:prstGeom prst="rect">
            <a:avLst/>
          </a:prstGeom>
          <a:noFill/>
          <a:ln/>
        </p:spPr>
        <p:txBody>
          <a:bodyPr wrap="square" lIns="0" tIns="0" rIns="0" bIns="0" rtlCol="0" anchor="t"/>
          <a:lstStyle/>
          <a:p>
            <a:pPr indent="0" marL="0">
              <a:buNone/>
            </a:pPr>
            <a:r>
              <a:rPr lang="en-US" sz="1200" dirty="0">
                <a:solidFill>
                  <a:schemeClr val="accent6"/>
                </a:solidFill>
              </a:rPr>
              <a:t>REST endpoints with Swagger docs</a:t>
            </a:r>
            <a:endParaRPr lang="en-US" sz="1200" dirty="0"/>
          </a:p>
        </p:txBody>
      </p:sp>
      <p:sp>
        <p:nvSpPr>
          <p:cNvPr id="9" name="Text 6"/>
          <p:cNvSpPr txBox="1"/>
          <p:nvPr/>
        </p:nvSpPr>
        <p:spPr>
          <a:xfrm>
            <a:off x="5669280" y="3291840"/>
            <a:ext cx="301752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24</a:t>
            </a:r>
            <a:endParaRPr lang="en-US" sz="4000" dirty="0"/>
          </a:p>
        </p:txBody>
      </p:sp>
      <p:sp>
        <p:nvSpPr>
          <p:cNvPr id="10" name="Text 7"/>
          <p:cNvSpPr txBox="1"/>
          <p:nvPr/>
        </p:nvSpPr>
        <p:spPr>
          <a:xfrm>
            <a:off x="5669280" y="3977640"/>
            <a:ext cx="3017520" cy="457200"/>
          </a:xfrm>
          <a:prstGeom prst="rect">
            <a:avLst/>
          </a:prstGeom>
          <a:noFill/>
          <a:ln/>
        </p:spPr>
        <p:txBody>
          <a:bodyPr wrap="square" lIns="0" tIns="0" rIns="0" bIns="0" rtlCol="0" anchor="t"/>
          <a:lstStyle/>
          <a:p>
            <a:pPr indent="0" marL="0">
              <a:buNone/>
            </a:pPr>
            <a:r>
              <a:rPr lang="en-US" sz="1200" dirty="0">
                <a:solidFill>
                  <a:schemeClr val="accent6"/>
                </a:solidFill>
              </a:rPr>
              <a:t>automated API tests (pytest)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Technology stack</a:t>
            </a:r>
            <a:endParaRPr lang="en-US" sz="3200" dirty="0"/>
          </a:p>
        </p:txBody>
      </p:sp>
      <p:sp>
        <p:nvSpPr>
          <p:cNvPr id="3" name="stack-Frontend"/>
          <p:cNvSpPr/>
          <p:nvPr/>
        </p:nvSpPr>
        <p:spPr>
          <a:xfrm>
            <a:off x="457200" y="1188720"/>
            <a:ext cx="1920240" cy="914400"/>
          </a:xfrm>
          <a:prstGeom prst="roundRect">
            <a:avLst>
              <a:gd name="adj" fmla="val 8000"/>
            </a:avLst>
          </a:prstGeom>
          <a:solidFill>
            <a:schemeClr val="bg2"/>
          </a:solidFill>
          <a:ln/>
        </p:spPr>
      </p:sp>
      <p:sp>
        <p:nvSpPr>
          <p:cNvPr id="4" name="icon-bg-FaReact"/>
          <p:cNvSpPr/>
          <p:nvPr/>
        </p:nvSpPr>
        <p:spPr>
          <a:xfrm>
            <a:off x="594360" y="1435608"/>
            <a:ext cx="420624" cy="420624"/>
          </a:xfrm>
          <a:prstGeom prst="ellipse">
            <a:avLst/>
          </a:prstGeom>
          <a:solidFill>
            <a:schemeClr val="accent1"/>
          </a:solidFill>
          <a:ln/>
        </p:spPr>
      </p:sp>
      <p:pic>
        <p:nvPicPr>
          <p:cNvPr id="5" name="icon-FaReact" descr="preencoded.png">    </p:cNvPr>
          <p:cNvPicPr>
            <a:picLocks noChangeAspect="1"/>
          </p:cNvPicPr>
          <p:nvPr/>
        </p:nvPicPr>
        <p:blipFill>
          <a:blip r:embed="rId1"/>
          <a:stretch>
            <a:fillRect/>
          </a:stretch>
        </p:blipFill>
        <p:spPr>
          <a:xfrm>
            <a:off x="695310" y="1536558"/>
            <a:ext cx="218724" cy="218724"/>
          </a:xfrm>
          <a:prstGeom prst="rect">
            <a:avLst/>
          </a:prstGeom>
        </p:spPr>
      </p:pic>
      <p:sp>
        <p:nvSpPr>
          <p:cNvPr id="6" name="Text 3"/>
          <p:cNvSpPr txBox="1"/>
          <p:nvPr/>
        </p:nvSpPr>
        <p:spPr>
          <a:xfrm>
            <a:off x="1115568" y="137160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FRONTEND</a:t>
            </a:r>
            <a:endParaRPr lang="en-US" sz="1400" dirty="0"/>
          </a:p>
          <a:p>
            <a:pPr indent="0" marL="0">
              <a:buNone/>
            </a:pPr>
            <a:r>
              <a:rPr lang="en-US" sz="1400" b="1" dirty="0">
                <a:solidFill>
                  <a:schemeClr val="tx1"/>
                </a:solidFill>
              </a:rPr>
              <a:t>React 19 + Vite</a:t>
            </a:r>
            <a:endParaRPr lang="en-US" sz="1400" dirty="0"/>
          </a:p>
        </p:txBody>
      </p:sp>
      <p:sp>
        <p:nvSpPr>
          <p:cNvPr id="7" name="stack-Backend"/>
          <p:cNvSpPr/>
          <p:nvPr/>
        </p:nvSpPr>
        <p:spPr>
          <a:xfrm>
            <a:off x="2560320" y="1188720"/>
            <a:ext cx="1920240" cy="914400"/>
          </a:xfrm>
          <a:prstGeom prst="roundRect">
            <a:avLst>
              <a:gd name="adj" fmla="val 8000"/>
            </a:avLst>
          </a:prstGeom>
          <a:solidFill>
            <a:schemeClr val="bg2"/>
          </a:solidFill>
          <a:ln/>
        </p:spPr>
      </p:sp>
      <p:sp>
        <p:nvSpPr>
          <p:cNvPr id="8" name="icon-bg-FaPython"/>
          <p:cNvSpPr/>
          <p:nvPr/>
        </p:nvSpPr>
        <p:spPr>
          <a:xfrm>
            <a:off x="2697480" y="1435608"/>
            <a:ext cx="420624" cy="420624"/>
          </a:xfrm>
          <a:prstGeom prst="ellipse">
            <a:avLst/>
          </a:prstGeom>
          <a:solidFill>
            <a:schemeClr val="accent1"/>
          </a:solidFill>
          <a:ln/>
        </p:spPr>
      </p:sp>
      <p:pic>
        <p:nvPicPr>
          <p:cNvPr id="9" name="icon-FaPython" descr="preencoded.png">    </p:cNvPr>
          <p:cNvPicPr>
            <a:picLocks noChangeAspect="1"/>
          </p:cNvPicPr>
          <p:nvPr/>
        </p:nvPicPr>
        <p:blipFill>
          <a:blip r:embed="rId2"/>
          <a:stretch>
            <a:fillRect/>
          </a:stretch>
        </p:blipFill>
        <p:spPr>
          <a:xfrm>
            <a:off x="2798430" y="1536558"/>
            <a:ext cx="218724" cy="218724"/>
          </a:xfrm>
          <a:prstGeom prst="rect">
            <a:avLst/>
          </a:prstGeom>
        </p:spPr>
      </p:pic>
      <p:sp>
        <p:nvSpPr>
          <p:cNvPr id="10" name="Text 6"/>
          <p:cNvSpPr txBox="1"/>
          <p:nvPr/>
        </p:nvSpPr>
        <p:spPr>
          <a:xfrm>
            <a:off x="3218688" y="137160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BACKEND</a:t>
            </a:r>
            <a:endParaRPr lang="en-US" sz="1400" dirty="0"/>
          </a:p>
          <a:p>
            <a:pPr indent="0" marL="0">
              <a:buNone/>
            </a:pPr>
            <a:r>
              <a:rPr lang="en-US" sz="1400" b="1" dirty="0">
                <a:solidFill>
                  <a:schemeClr val="tx1"/>
                </a:solidFill>
              </a:rPr>
              <a:t>FastAPI · Python 3.13</a:t>
            </a:r>
            <a:endParaRPr lang="en-US" sz="1400" dirty="0"/>
          </a:p>
        </p:txBody>
      </p:sp>
      <p:sp>
        <p:nvSpPr>
          <p:cNvPr id="11" name="stack-Database"/>
          <p:cNvSpPr/>
          <p:nvPr/>
        </p:nvSpPr>
        <p:spPr>
          <a:xfrm>
            <a:off x="4663440" y="1188720"/>
            <a:ext cx="1920240" cy="914400"/>
          </a:xfrm>
          <a:prstGeom prst="roundRect">
            <a:avLst>
              <a:gd name="adj" fmla="val 8000"/>
            </a:avLst>
          </a:prstGeom>
          <a:solidFill>
            <a:schemeClr val="bg2"/>
          </a:solidFill>
          <a:ln/>
        </p:spPr>
      </p:sp>
      <p:sp>
        <p:nvSpPr>
          <p:cNvPr id="12" name="icon-bg-FaDatabase"/>
          <p:cNvSpPr/>
          <p:nvPr/>
        </p:nvSpPr>
        <p:spPr>
          <a:xfrm>
            <a:off x="4800600" y="1435608"/>
            <a:ext cx="420624" cy="420624"/>
          </a:xfrm>
          <a:prstGeom prst="ellipse">
            <a:avLst/>
          </a:prstGeom>
          <a:solidFill>
            <a:schemeClr val="accent1"/>
          </a:solidFill>
          <a:ln/>
        </p:spPr>
      </p:sp>
      <p:pic>
        <p:nvPicPr>
          <p:cNvPr id="13" name="icon-FaDatabase" descr="preencoded.png">    </p:cNvPr>
          <p:cNvPicPr>
            <a:picLocks noChangeAspect="1"/>
          </p:cNvPicPr>
          <p:nvPr/>
        </p:nvPicPr>
        <p:blipFill>
          <a:blip r:embed="rId3"/>
          <a:stretch>
            <a:fillRect/>
          </a:stretch>
        </p:blipFill>
        <p:spPr>
          <a:xfrm>
            <a:off x="4901550" y="1536558"/>
            <a:ext cx="218724" cy="218724"/>
          </a:xfrm>
          <a:prstGeom prst="rect">
            <a:avLst/>
          </a:prstGeom>
        </p:spPr>
      </p:pic>
      <p:sp>
        <p:nvSpPr>
          <p:cNvPr id="14" name="Text 9"/>
          <p:cNvSpPr txBox="1"/>
          <p:nvPr/>
        </p:nvSpPr>
        <p:spPr>
          <a:xfrm>
            <a:off x="5321808" y="137160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DATABASE</a:t>
            </a:r>
            <a:endParaRPr lang="en-US" sz="1400" dirty="0"/>
          </a:p>
          <a:p>
            <a:pPr indent="0" marL="0">
              <a:buNone/>
            </a:pPr>
            <a:r>
              <a:rPr lang="en-US" sz="1400" b="1" dirty="0">
                <a:solidFill>
                  <a:schemeClr val="tx1"/>
                </a:solidFill>
              </a:rPr>
              <a:t>PostgreSQL + Alembic</a:t>
            </a:r>
            <a:endParaRPr lang="en-US" sz="1400" dirty="0"/>
          </a:p>
        </p:txBody>
      </p:sp>
      <p:sp>
        <p:nvSpPr>
          <p:cNvPr id="15" name="stack-Testing"/>
          <p:cNvSpPr/>
          <p:nvPr/>
        </p:nvSpPr>
        <p:spPr>
          <a:xfrm>
            <a:off x="6766560" y="1188720"/>
            <a:ext cx="1920240" cy="914400"/>
          </a:xfrm>
          <a:prstGeom prst="roundRect">
            <a:avLst>
              <a:gd name="adj" fmla="val 8000"/>
            </a:avLst>
          </a:prstGeom>
          <a:solidFill>
            <a:schemeClr val="bg2"/>
          </a:solidFill>
          <a:ln/>
        </p:spPr>
      </p:sp>
      <p:sp>
        <p:nvSpPr>
          <p:cNvPr id="16" name="icon-bg-FaVial"/>
          <p:cNvSpPr/>
          <p:nvPr/>
        </p:nvSpPr>
        <p:spPr>
          <a:xfrm>
            <a:off x="6903720" y="1435608"/>
            <a:ext cx="420624" cy="420624"/>
          </a:xfrm>
          <a:prstGeom prst="ellipse">
            <a:avLst/>
          </a:prstGeom>
          <a:solidFill>
            <a:schemeClr val="accent1"/>
          </a:solidFill>
          <a:ln/>
        </p:spPr>
      </p:sp>
      <p:pic>
        <p:nvPicPr>
          <p:cNvPr id="17" name="icon-FaVial" descr="preencoded.png">    </p:cNvPr>
          <p:cNvPicPr>
            <a:picLocks noChangeAspect="1"/>
          </p:cNvPicPr>
          <p:nvPr/>
        </p:nvPicPr>
        <p:blipFill>
          <a:blip r:embed="rId4"/>
          <a:stretch>
            <a:fillRect/>
          </a:stretch>
        </p:blipFill>
        <p:spPr>
          <a:xfrm>
            <a:off x="7004670" y="1536558"/>
            <a:ext cx="218724" cy="218724"/>
          </a:xfrm>
          <a:prstGeom prst="rect">
            <a:avLst/>
          </a:prstGeom>
        </p:spPr>
      </p:pic>
      <p:sp>
        <p:nvSpPr>
          <p:cNvPr id="18" name="Text 12"/>
          <p:cNvSpPr txBox="1"/>
          <p:nvPr/>
        </p:nvSpPr>
        <p:spPr>
          <a:xfrm>
            <a:off x="7424928" y="137160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TESTING</a:t>
            </a:r>
            <a:endParaRPr lang="en-US" sz="1400" dirty="0"/>
          </a:p>
          <a:p>
            <a:pPr indent="0" marL="0">
              <a:buNone/>
            </a:pPr>
            <a:r>
              <a:rPr lang="en-US" sz="1400" b="1" dirty="0">
                <a:solidFill>
                  <a:schemeClr val="tx1"/>
                </a:solidFill>
              </a:rPr>
              <a:t>Pytest · 24 tests</a:t>
            </a:r>
            <a:endParaRPr lang="en-US" sz="1400" dirty="0"/>
          </a:p>
        </p:txBody>
      </p:sp>
      <p:sp>
        <p:nvSpPr>
          <p:cNvPr id="19" name="stack-Containers"/>
          <p:cNvSpPr/>
          <p:nvPr/>
        </p:nvSpPr>
        <p:spPr>
          <a:xfrm>
            <a:off x="457200" y="2286000"/>
            <a:ext cx="1920240" cy="914400"/>
          </a:xfrm>
          <a:prstGeom prst="roundRect">
            <a:avLst>
              <a:gd name="adj" fmla="val 8000"/>
            </a:avLst>
          </a:prstGeom>
          <a:solidFill>
            <a:schemeClr val="bg2"/>
          </a:solidFill>
          <a:ln/>
        </p:spPr>
      </p:sp>
      <p:sp>
        <p:nvSpPr>
          <p:cNvPr id="20" name="icon-bg-FaDocker"/>
          <p:cNvSpPr/>
          <p:nvPr/>
        </p:nvSpPr>
        <p:spPr>
          <a:xfrm>
            <a:off x="594360" y="2532888"/>
            <a:ext cx="420624" cy="420624"/>
          </a:xfrm>
          <a:prstGeom prst="ellipse">
            <a:avLst/>
          </a:prstGeom>
          <a:solidFill>
            <a:schemeClr val="accent1"/>
          </a:solidFill>
          <a:ln/>
        </p:spPr>
      </p:sp>
      <p:pic>
        <p:nvPicPr>
          <p:cNvPr id="21" name="icon-FaDocker" descr="preencoded.png">    </p:cNvPr>
          <p:cNvPicPr>
            <a:picLocks noChangeAspect="1"/>
          </p:cNvPicPr>
          <p:nvPr/>
        </p:nvPicPr>
        <p:blipFill>
          <a:blip r:embed="rId5"/>
          <a:stretch>
            <a:fillRect/>
          </a:stretch>
        </p:blipFill>
        <p:spPr>
          <a:xfrm>
            <a:off x="695310" y="2633838"/>
            <a:ext cx="218724" cy="218724"/>
          </a:xfrm>
          <a:prstGeom prst="rect">
            <a:avLst/>
          </a:prstGeom>
        </p:spPr>
      </p:pic>
      <p:sp>
        <p:nvSpPr>
          <p:cNvPr id="22" name="Text 15"/>
          <p:cNvSpPr txBox="1"/>
          <p:nvPr/>
        </p:nvSpPr>
        <p:spPr>
          <a:xfrm>
            <a:off x="1115568" y="246888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CONTAINERS</a:t>
            </a:r>
            <a:endParaRPr lang="en-US" sz="1400" dirty="0"/>
          </a:p>
          <a:p>
            <a:pPr indent="0" marL="0">
              <a:buNone/>
            </a:pPr>
            <a:r>
              <a:rPr lang="en-US" sz="1400" b="1" dirty="0">
                <a:solidFill>
                  <a:schemeClr val="tx1"/>
                </a:solidFill>
              </a:rPr>
              <a:t>Docker + Compose</a:t>
            </a:r>
            <a:endParaRPr lang="en-US" sz="1400" dirty="0"/>
          </a:p>
        </p:txBody>
      </p:sp>
      <p:sp>
        <p:nvSpPr>
          <p:cNvPr id="23" name="stack-CI/CD"/>
          <p:cNvSpPr/>
          <p:nvPr/>
        </p:nvSpPr>
        <p:spPr>
          <a:xfrm>
            <a:off x="2560320" y="2286000"/>
            <a:ext cx="1920240" cy="914400"/>
          </a:xfrm>
          <a:prstGeom prst="roundRect">
            <a:avLst>
              <a:gd name="adj" fmla="val 8000"/>
            </a:avLst>
          </a:prstGeom>
          <a:solidFill>
            <a:schemeClr val="bg2"/>
          </a:solidFill>
          <a:ln/>
        </p:spPr>
      </p:sp>
      <p:sp>
        <p:nvSpPr>
          <p:cNvPr id="24" name="icon-bg-FaGithub"/>
          <p:cNvSpPr/>
          <p:nvPr/>
        </p:nvSpPr>
        <p:spPr>
          <a:xfrm>
            <a:off x="2697480" y="2532888"/>
            <a:ext cx="420624" cy="420624"/>
          </a:xfrm>
          <a:prstGeom prst="ellipse">
            <a:avLst/>
          </a:prstGeom>
          <a:solidFill>
            <a:schemeClr val="accent1"/>
          </a:solidFill>
          <a:ln/>
        </p:spPr>
      </p:sp>
      <p:pic>
        <p:nvPicPr>
          <p:cNvPr id="25" name="icon-FaGithub" descr="preencoded.png">    </p:cNvPr>
          <p:cNvPicPr>
            <a:picLocks noChangeAspect="1"/>
          </p:cNvPicPr>
          <p:nvPr/>
        </p:nvPicPr>
        <p:blipFill>
          <a:blip r:embed="rId6"/>
          <a:stretch>
            <a:fillRect/>
          </a:stretch>
        </p:blipFill>
        <p:spPr>
          <a:xfrm>
            <a:off x="2798430" y="2633838"/>
            <a:ext cx="218724" cy="218724"/>
          </a:xfrm>
          <a:prstGeom prst="rect">
            <a:avLst/>
          </a:prstGeom>
        </p:spPr>
      </p:pic>
      <p:sp>
        <p:nvSpPr>
          <p:cNvPr id="26" name="Text 18"/>
          <p:cNvSpPr txBox="1"/>
          <p:nvPr/>
        </p:nvSpPr>
        <p:spPr>
          <a:xfrm>
            <a:off x="3218688" y="246888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CI/CD</a:t>
            </a:r>
            <a:endParaRPr lang="en-US" sz="1400" dirty="0"/>
          </a:p>
          <a:p>
            <a:pPr indent="0" marL="0">
              <a:buNone/>
            </a:pPr>
            <a:r>
              <a:rPr lang="en-US" sz="1400" b="1" dirty="0">
                <a:solidFill>
                  <a:schemeClr val="tx1"/>
                </a:solidFill>
              </a:rPr>
              <a:t>GitHub Actions + GHCR</a:t>
            </a:r>
            <a:endParaRPr lang="en-US" sz="1400" dirty="0"/>
          </a:p>
        </p:txBody>
      </p:sp>
      <p:sp>
        <p:nvSpPr>
          <p:cNvPr id="27" name="stack-Security"/>
          <p:cNvSpPr/>
          <p:nvPr/>
        </p:nvSpPr>
        <p:spPr>
          <a:xfrm>
            <a:off x="4663440" y="2286000"/>
            <a:ext cx="1920240" cy="914400"/>
          </a:xfrm>
          <a:prstGeom prst="roundRect">
            <a:avLst>
              <a:gd name="adj" fmla="val 8000"/>
            </a:avLst>
          </a:prstGeom>
          <a:solidFill>
            <a:schemeClr val="bg2"/>
          </a:solidFill>
          <a:ln/>
        </p:spPr>
      </p:sp>
      <p:sp>
        <p:nvSpPr>
          <p:cNvPr id="28" name="icon-bg-FaShieldAlt"/>
          <p:cNvSpPr/>
          <p:nvPr/>
        </p:nvSpPr>
        <p:spPr>
          <a:xfrm>
            <a:off x="4800600" y="2532888"/>
            <a:ext cx="420624" cy="420624"/>
          </a:xfrm>
          <a:prstGeom prst="ellipse">
            <a:avLst/>
          </a:prstGeom>
          <a:solidFill>
            <a:schemeClr val="accent1"/>
          </a:solidFill>
          <a:ln/>
        </p:spPr>
      </p:sp>
      <p:pic>
        <p:nvPicPr>
          <p:cNvPr id="29" name="icon-FaShieldAlt" descr="preencoded.png">    </p:cNvPr>
          <p:cNvPicPr>
            <a:picLocks noChangeAspect="1"/>
          </p:cNvPicPr>
          <p:nvPr/>
        </p:nvPicPr>
        <p:blipFill>
          <a:blip r:embed="rId7"/>
          <a:stretch>
            <a:fillRect/>
          </a:stretch>
        </p:blipFill>
        <p:spPr>
          <a:xfrm>
            <a:off x="4901550" y="2633838"/>
            <a:ext cx="218724" cy="218724"/>
          </a:xfrm>
          <a:prstGeom prst="rect">
            <a:avLst/>
          </a:prstGeom>
        </p:spPr>
      </p:pic>
      <p:sp>
        <p:nvSpPr>
          <p:cNvPr id="30" name="Text 21"/>
          <p:cNvSpPr txBox="1"/>
          <p:nvPr/>
        </p:nvSpPr>
        <p:spPr>
          <a:xfrm>
            <a:off x="5321808" y="246888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SECURITY</a:t>
            </a:r>
            <a:endParaRPr lang="en-US" sz="1400" dirty="0"/>
          </a:p>
          <a:p>
            <a:pPr indent="0" marL="0">
              <a:buNone/>
            </a:pPr>
            <a:r>
              <a:rPr lang="en-US" sz="1400" b="1" dirty="0">
                <a:solidFill>
                  <a:schemeClr val="tx1"/>
                </a:solidFill>
              </a:rPr>
              <a:t>Trivy · Bandit · Gitleaks</a:t>
            </a:r>
            <a:endParaRPr lang="en-US" sz="1400" dirty="0"/>
          </a:p>
        </p:txBody>
      </p:sp>
      <p:sp>
        <p:nvSpPr>
          <p:cNvPr id="31" name="stack-Infrastructure"/>
          <p:cNvSpPr/>
          <p:nvPr/>
        </p:nvSpPr>
        <p:spPr>
          <a:xfrm>
            <a:off x="6766560" y="2286000"/>
            <a:ext cx="1920240" cy="914400"/>
          </a:xfrm>
          <a:prstGeom prst="roundRect">
            <a:avLst>
              <a:gd name="adj" fmla="val 8000"/>
            </a:avLst>
          </a:prstGeom>
          <a:solidFill>
            <a:schemeClr val="bg2"/>
          </a:solidFill>
          <a:ln/>
        </p:spPr>
      </p:sp>
      <p:sp>
        <p:nvSpPr>
          <p:cNvPr id="32" name="icon-bg-FaAws"/>
          <p:cNvSpPr/>
          <p:nvPr/>
        </p:nvSpPr>
        <p:spPr>
          <a:xfrm>
            <a:off x="6903720" y="2532888"/>
            <a:ext cx="420624" cy="420624"/>
          </a:xfrm>
          <a:prstGeom prst="ellipse">
            <a:avLst/>
          </a:prstGeom>
          <a:solidFill>
            <a:schemeClr val="accent1"/>
          </a:solidFill>
          <a:ln/>
        </p:spPr>
      </p:sp>
      <p:pic>
        <p:nvPicPr>
          <p:cNvPr id="33" name="icon-FaAws" descr="preencoded.png">    </p:cNvPr>
          <p:cNvPicPr>
            <a:picLocks noChangeAspect="1"/>
          </p:cNvPicPr>
          <p:nvPr/>
        </p:nvPicPr>
        <p:blipFill>
          <a:blip r:embed="rId8"/>
          <a:stretch>
            <a:fillRect/>
          </a:stretch>
        </p:blipFill>
        <p:spPr>
          <a:xfrm>
            <a:off x="7004670" y="2633838"/>
            <a:ext cx="218724" cy="218724"/>
          </a:xfrm>
          <a:prstGeom prst="rect">
            <a:avLst/>
          </a:prstGeom>
        </p:spPr>
      </p:pic>
      <p:sp>
        <p:nvSpPr>
          <p:cNvPr id="34" name="Text 24"/>
          <p:cNvSpPr txBox="1"/>
          <p:nvPr/>
        </p:nvSpPr>
        <p:spPr>
          <a:xfrm>
            <a:off x="7424928" y="246888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INFRASTRUCTURE</a:t>
            </a:r>
            <a:endParaRPr lang="en-US" sz="1400" dirty="0"/>
          </a:p>
          <a:p>
            <a:pPr indent="0" marL="0">
              <a:buNone/>
            </a:pPr>
            <a:r>
              <a:rPr lang="en-US" sz="1400" b="1" dirty="0">
                <a:solidFill>
                  <a:schemeClr val="tx1"/>
                </a:solidFill>
              </a:rPr>
              <a:t>Terraform · AWS EKS</a:t>
            </a:r>
            <a:endParaRPr lang="en-US" sz="1400" dirty="0"/>
          </a:p>
        </p:txBody>
      </p:sp>
      <p:sp>
        <p:nvSpPr>
          <p:cNvPr id="35" name="stack-Orchestration"/>
          <p:cNvSpPr/>
          <p:nvPr/>
        </p:nvSpPr>
        <p:spPr>
          <a:xfrm>
            <a:off x="457200" y="3383280"/>
            <a:ext cx="1920240" cy="914400"/>
          </a:xfrm>
          <a:prstGeom prst="roundRect">
            <a:avLst>
              <a:gd name="adj" fmla="val 8000"/>
            </a:avLst>
          </a:prstGeom>
          <a:solidFill>
            <a:schemeClr val="bg2"/>
          </a:solidFill>
          <a:ln/>
        </p:spPr>
      </p:sp>
      <p:sp>
        <p:nvSpPr>
          <p:cNvPr id="36" name="icon-bg-FaDharmachakra"/>
          <p:cNvSpPr/>
          <p:nvPr/>
        </p:nvSpPr>
        <p:spPr>
          <a:xfrm>
            <a:off x="594360" y="3630168"/>
            <a:ext cx="420624" cy="420624"/>
          </a:xfrm>
          <a:prstGeom prst="ellipse">
            <a:avLst/>
          </a:prstGeom>
          <a:solidFill>
            <a:schemeClr val="accent1"/>
          </a:solidFill>
          <a:ln/>
        </p:spPr>
      </p:sp>
      <p:pic>
        <p:nvPicPr>
          <p:cNvPr id="37" name="icon-FaDharmachakra" descr="preencoded.png">    </p:cNvPr>
          <p:cNvPicPr>
            <a:picLocks noChangeAspect="1"/>
          </p:cNvPicPr>
          <p:nvPr/>
        </p:nvPicPr>
        <p:blipFill>
          <a:blip r:embed="rId9"/>
          <a:stretch>
            <a:fillRect/>
          </a:stretch>
        </p:blipFill>
        <p:spPr>
          <a:xfrm>
            <a:off x="695310" y="3731118"/>
            <a:ext cx="218724" cy="218724"/>
          </a:xfrm>
          <a:prstGeom prst="rect">
            <a:avLst/>
          </a:prstGeom>
        </p:spPr>
      </p:pic>
      <p:sp>
        <p:nvSpPr>
          <p:cNvPr id="38" name="Text 27"/>
          <p:cNvSpPr txBox="1"/>
          <p:nvPr/>
        </p:nvSpPr>
        <p:spPr>
          <a:xfrm>
            <a:off x="1115568" y="356616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ORCHESTRATION</a:t>
            </a:r>
            <a:endParaRPr lang="en-US" sz="1400" dirty="0"/>
          </a:p>
          <a:p>
            <a:pPr indent="0" marL="0">
              <a:buNone/>
            </a:pPr>
            <a:r>
              <a:rPr lang="en-US" sz="1400" b="1" dirty="0">
                <a:solidFill>
                  <a:schemeClr val="tx1"/>
                </a:solidFill>
              </a:rPr>
              <a:t>Kubernetes</a:t>
            </a:r>
            <a:endParaRPr lang="en-US" sz="1400" dirty="0"/>
          </a:p>
        </p:txBody>
      </p:sp>
      <p:sp>
        <p:nvSpPr>
          <p:cNvPr id="39" name="stack-Packaging"/>
          <p:cNvSpPr/>
          <p:nvPr/>
        </p:nvSpPr>
        <p:spPr>
          <a:xfrm>
            <a:off x="2560320" y="3383280"/>
            <a:ext cx="1920240" cy="914400"/>
          </a:xfrm>
          <a:prstGeom prst="roundRect">
            <a:avLst>
              <a:gd name="adj" fmla="val 8000"/>
            </a:avLst>
          </a:prstGeom>
          <a:solidFill>
            <a:schemeClr val="bg2"/>
          </a:solidFill>
          <a:ln/>
        </p:spPr>
      </p:sp>
      <p:sp>
        <p:nvSpPr>
          <p:cNvPr id="40" name="icon-bg-FaBoxOpen"/>
          <p:cNvSpPr/>
          <p:nvPr/>
        </p:nvSpPr>
        <p:spPr>
          <a:xfrm>
            <a:off x="2697480" y="3630168"/>
            <a:ext cx="420624" cy="420624"/>
          </a:xfrm>
          <a:prstGeom prst="ellipse">
            <a:avLst/>
          </a:prstGeom>
          <a:solidFill>
            <a:schemeClr val="accent1"/>
          </a:solidFill>
          <a:ln/>
        </p:spPr>
      </p:sp>
      <p:pic>
        <p:nvPicPr>
          <p:cNvPr id="41" name="icon-FaBoxOpen" descr="preencoded.png">    </p:cNvPr>
          <p:cNvPicPr>
            <a:picLocks noChangeAspect="1"/>
          </p:cNvPicPr>
          <p:nvPr/>
        </p:nvPicPr>
        <p:blipFill>
          <a:blip r:embed="rId10"/>
          <a:stretch>
            <a:fillRect/>
          </a:stretch>
        </p:blipFill>
        <p:spPr>
          <a:xfrm>
            <a:off x="2798430" y="3731118"/>
            <a:ext cx="218724" cy="218724"/>
          </a:xfrm>
          <a:prstGeom prst="rect">
            <a:avLst/>
          </a:prstGeom>
        </p:spPr>
      </p:pic>
      <p:sp>
        <p:nvSpPr>
          <p:cNvPr id="42" name="Text 30"/>
          <p:cNvSpPr txBox="1"/>
          <p:nvPr/>
        </p:nvSpPr>
        <p:spPr>
          <a:xfrm>
            <a:off x="3218688" y="356616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PACKAGING</a:t>
            </a:r>
            <a:endParaRPr lang="en-US" sz="1400" dirty="0"/>
          </a:p>
          <a:p>
            <a:pPr indent="0" marL="0">
              <a:buNone/>
            </a:pPr>
            <a:r>
              <a:rPr lang="en-US" sz="1400" b="1" dirty="0">
                <a:solidFill>
                  <a:schemeClr val="tx1"/>
                </a:solidFill>
              </a:rPr>
              <a:t>Helm 3</a:t>
            </a:r>
            <a:endParaRPr lang="en-US" sz="1400" dirty="0"/>
          </a:p>
        </p:txBody>
      </p:sp>
      <p:sp>
        <p:nvSpPr>
          <p:cNvPr id="43" name="stack-GitOps"/>
          <p:cNvSpPr/>
          <p:nvPr/>
        </p:nvSpPr>
        <p:spPr>
          <a:xfrm>
            <a:off x="4663440" y="3383280"/>
            <a:ext cx="1920240" cy="914400"/>
          </a:xfrm>
          <a:prstGeom prst="roundRect">
            <a:avLst>
              <a:gd name="adj" fmla="val 8000"/>
            </a:avLst>
          </a:prstGeom>
          <a:solidFill>
            <a:schemeClr val="bg2"/>
          </a:solidFill>
          <a:ln/>
        </p:spPr>
      </p:sp>
      <p:sp>
        <p:nvSpPr>
          <p:cNvPr id="44" name="icon-bg-FaSyncAlt"/>
          <p:cNvSpPr/>
          <p:nvPr/>
        </p:nvSpPr>
        <p:spPr>
          <a:xfrm>
            <a:off x="4800600" y="3630168"/>
            <a:ext cx="420624" cy="420624"/>
          </a:xfrm>
          <a:prstGeom prst="ellipse">
            <a:avLst/>
          </a:prstGeom>
          <a:solidFill>
            <a:schemeClr val="accent1"/>
          </a:solidFill>
          <a:ln/>
        </p:spPr>
      </p:sp>
      <p:pic>
        <p:nvPicPr>
          <p:cNvPr id="45" name="icon-FaSyncAlt" descr="preencoded.png">    </p:cNvPr>
          <p:cNvPicPr>
            <a:picLocks noChangeAspect="1"/>
          </p:cNvPicPr>
          <p:nvPr/>
        </p:nvPicPr>
        <p:blipFill>
          <a:blip r:embed="rId11"/>
          <a:stretch>
            <a:fillRect/>
          </a:stretch>
        </p:blipFill>
        <p:spPr>
          <a:xfrm>
            <a:off x="4901550" y="3731118"/>
            <a:ext cx="218724" cy="218724"/>
          </a:xfrm>
          <a:prstGeom prst="rect">
            <a:avLst/>
          </a:prstGeom>
        </p:spPr>
      </p:pic>
      <p:sp>
        <p:nvSpPr>
          <p:cNvPr id="46" name="Text 33"/>
          <p:cNvSpPr txBox="1"/>
          <p:nvPr/>
        </p:nvSpPr>
        <p:spPr>
          <a:xfrm>
            <a:off x="5321808" y="356616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GITOPS</a:t>
            </a:r>
            <a:endParaRPr lang="en-US" sz="1400" dirty="0"/>
          </a:p>
          <a:p>
            <a:pPr indent="0" marL="0">
              <a:buNone/>
            </a:pPr>
            <a:r>
              <a:rPr lang="en-US" sz="1400" b="1" dirty="0">
                <a:solidFill>
                  <a:schemeClr val="tx1"/>
                </a:solidFill>
              </a:rPr>
              <a:t>Argo CD</a:t>
            </a:r>
            <a:endParaRPr lang="en-US" sz="1400" dirty="0"/>
          </a:p>
        </p:txBody>
      </p:sp>
      <p:sp>
        <p:nvSpPr>
          <p:cNvPr id="47" name="stack-Observability"/>
          <p:cNvSpPr/>
          <p:nvPr/>
        </p:nvSpPr>
        <p:spPr>
          <a:xfrm>
            <a:off x="6766560" y="3383280"/>
            <a:ext cx="1920240" cy="914400"/>
          </a:xfrm>
          <a:prstGeom prst="roundRect">
            <a:avLst>
              <a:gd name="adj" fmla="val 8000"/>
            </a:avLst>
          </a:prstGeom>
          <a:solidFill>
            <a:schemeClr val="bg2"/>
          </a:solidFill>
          <a:ln/>
        </p:spPr>
      </p:sp>
      <p:sp>
        <p:nvSpPr>
          <p:cNvPr id="48" name="icon-bg-FaChartLine"/>
          <p:cNvSpPr/>
          <p:nvPr/>
        </p:nvSpPr>
        <p:spPr>
          <a:xfrm>
            <a:off x="6903720" y="3630168"/>
            <a:ext cx="420624" cy="420624"/>
          </a:xfrm>
          <a:prstGeom prst="ellipse">
            <a:avLst/>
          </a:prstGeom>
          <a:solidFill>
            <a:schemeClr val="accent1"/>
          </a:solidFill>
          <a:ln/>
        </p:spPr>
      </p:sp>
      <p:pic>
        <p:nvPicPr>
          <p:cNvPr id="49" name="icon-FaChartLine" descr="preencoded.png">    </p:cNvPr>
          <p:cNvPicPr>
            <a:picLocks noChangeAspect="1"/>
          </p:cNvPicPr>
          <p:nvPr/>
        </p:nvPicPr>
        <p:blipFill>
          <a:blip r:embed="rId12"/>
          <a:stretch>
            <a:fillRect/>
          </a:stretch>
        </p:blipFill>
        <p:spPr>
          <a:xfrm>
            <a:off x="7004670" y="3731118"/>
            <a:ext cx="218724" cy="218724"/>
          </a:xfrm>
          <a:prstGeom prst="rect">
            <a:avLst/>
          </a:prstGeom>
        </p:spPr>
      </p:pic>
      <p:sp>
        <p:nvSpPr>
          <p:cNvPr id="50" name="Text 36"/>
          <p:cNvSpPr txBox="1"/>
          <p:nvPr/>
        </p:nvSpPr>
        <p:spPr>
          <a:xfrm>
            <a:off x="7424928" y="3566160"/>
            <a:ext cx="1188720" cy="594360"/>
          </a:xfrm>
          <a:prstGeom prst="rect">
            <a:avLst/>
          </a:prstGeom>
          <a:noFill/>
          <a:ln/>
        </p:spPr>
        <p:txBody>
          <a:bodyPr wrap="square" lIns="0" tIns="0" rIns="0" bIns="0" rtlCol="0" anchor="ctr"/>
          <a:lstStyle/>
          <a:p>
            <a:pPr indent="0" marL="0">
              <a:buNone/>
            </a:pPr>
            <a:r>
              <a:rPr lang="en-US" sz="1000" b="1" dirty="0">
                <a:solidFill>
                  <a:schemeClr val="accent6"/>
                </a:solidFill>
              </a:rPr>
              <a:t>OBSERVABILITY</a:t>
            </a:r>
            <a:endParaRPr lang="en-US" sz="1400" dirty="0"/>
          </a:p>
          <a:p>
            <a:pPr indent="0" marL="0">
              <a:buNone/>
            </a:pPr>
            <a:r>
              <a:rPr lang="en-US" sz="1400" b="1" dirty="0">
                <a:solidFill>
                  <a:schemeClr val="tx1"/>
                </a:solidFill>
              </a:rPr>
              <a:t>Prometheus + Grafana</a:t>
            </a:r>
            <a:endParaRPr lang="en-US" sz="1400" dirty="0"/>
          </a:p>
        </p:txBody>
      </p:sp>
      <p:sp>
        <p:nvSpPr>
          <p:cNvPr id="51" name="Text 37"/>
          <p:cNvSpPr txBox="1"/>
          <p:nvPr/>
        </p:nvSpPr>
        <p:spPr>
          <a:xfrm>
            <a:off x="457200" y="4443984"/>
            <a:ext cx="8229600" cy="256032"/>
          </a:xfrm>
          <a:prstGeom prst="rect">
            <a:avLst/>
          </a:prstGeom>
          <a:noFill/>
          <a:ln/>
        </p:spPr>
        <p:txBody>
          <a:bodyPr wrap="square" lIns="0" tIns="0" rIns="0" bIns="0" rtlCol="0" anchor="t"/>
          <a:lstStyle/>
          <a:p>
            <a:pPr indent="0" marL="0">
              <a:buNone/>
            </a:pPr>
            <a:r>
              <a:rPr lang="en-US" sz="1100" i="1" dirty="0">
                <a:solidFill>
                  <a:schemeClr val="accent6"/>
                </a:solidFill>
              </a:rPr>
              <a:t>Why Kubernetes: self-healing, rolling updates, autoscaling · alternatives considered: Docker Swarm, AWS ECS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Architecture overview</a:t>
            </a:r>
            <a:endParaRPr lang="en-US" sz="3200" dirty="0"/>
          </a:p>
        </p:txBody>
      </p:sp>
      <p:sp>
        <p:nvSpPr>
          <p:cNvPr id="3" name="box-Developer"/>
          <p:cNvSpPr/>
          <p:nvPr/>
        </p:nvSpPr>
        <p:spPr>
          <a:xfrm>
            <a:off x="457200" y="1143000"/>
            <a:ext cx="1143000" cy="548640"/>
          </a:xfrm>
          <a:prstGeom prst="roundRect">
            <a:avLst>
              <a:gd name="adj" fmla="val 10000"/>
            </a:avLst>
          </a:prstGeom>
          <a:solidFill>
            <a:schemeClr val="tx2"/>
          </a:solidFill>
          <a:ln/>
        </p:spPr>
      </p:sp>
      <p:sp>
        <p:nvSpPr>
          <p:cNvPr id="4" name="Text 2"/>
          <p:cNvSpPr txBox="1"/>
          <p:nvPr/>
        </p:nvSpPr>
        <p:spPr>
          <a:xfrm>
            <a:off x="457200" y="1143000"/>
            <a:ext cx="1143000" cy="548640"/>
          </a:xfrm>
          <a:prstGeom prst="rect">
            <a:avLst/>
          </a:prstGeom>
          <a:noFill/>
          <a:ln/>
        </p:spPr>
        <p:txBody>
          <a:bodyPr wrap="square" lIns="0" tIns="0" rIns="0" bIns="0" rtlCol="0" anchor="ctr"/>
          <a:lstStyle/>
          <a:p>
            <a:pPr algn="ctr" indent="0" marL="0">
              <a:buNone/>
            </a:pPr>
            <a:r>
              <a:rPr lang="en-US" sz="1200" b="1" dirty="0">
                <a:solidFill>
                  <a:schemeClr val="bg1"/>
                </a:solidFill>
              </a:rPr>
              <a:t>Developer</a:t>
            </a:r>
            <a:endParaRPr lang="en-US" sz="1200" dirty="0"/>
          </a:p>
        </p:txBody>
      </p:sp>
      <p:sp>
        <p:nvSpPr>
          <p:cNvPr id="5" name="Shape 3"/>
          <p:cNvSpPr/>
          <p:nvPr/>
        </p:nvSpPr>
        <p:spPr>
          <a:xfrm>
            <a:off x="1645920" y="1417320"/>
            <a:ext cx="320040" cy="0"/>
          </a:xfrm>
          <a:prstGeom prst="line">
            <a:avLst/>
          </a:prstGeom>
          <a:noFill/>
          <a:ln w="19050">
            <a:solidFill>
              <a:srgbClr val="64748B"/>
            </a:solidFill>
            <a:prstDash val="solid"/>
            <a:tailEnd type="triangle"/>
          </a:ln>
        </p:spPr>
      </p:sp>
      <p:sp>
        <p:nvSpPr>
          <p:cNvPr id="6" name="box-GitHub repo"/>
          <p:cNvSpPr/>
          <p:nvPr/>
        </p:nvSpPr>
        <p:spPr>
          <a:xfrm>
            <a:off x="2011680" y="1143000"/>
            <a:ext cx="1234440" cy="548640"/>
          </a:xfrm>
          <a:prstGeom prst="roundRect">
            <a:avLst>
              <a:gd name="adj" fmla="val 10000"/>
            </a:avLst>
          </a:prstGeom>
          <a:solidFill>
            <a:schemeClr val="tx2"/>
          </a:solidFill>
          <a:ln/>
        </p:spPr>
      </p:sp>
      <p:sp>
        <p:nvSpPr>
          <p:cNvPr id="7" name="Text 5"/>
          <p:cNvSpPr txBox="1"/>
          <p:nvPr/>
        </p:nvSpPr>
        <p:spPr>
          <a:xfrm>
            <a:off x="2011680" y="1143000"/>
            <a:ext cx="1234440" cy="548640"/>
          </a:xfrm>
          <a:prstGeom prst="rect">
            <a:avLst/>
          </a:prstGeom>
          <a:noFill/>
          <a:ln/>
        </p:spPr>
        <p:txBody>
          <a:bodyPr wrap="square" lIns="0" tIns="0" rIns="0" bIns="0" rtlCol="0" anchor="ctr"/>
          <a:lstStyle/>
          <a:p>
            <a:pPr algn="ctr" indent="0" marL="0">
              <a:buNone/>
            </a:pPr>
            <a:r>
              <a:rPr lang="en-US" sz="1200" b="1" dirty="0">
                <a:solidFill>
                  <a:schemeClr val="bg1"/>
                </a:solidFill>
              </a:rPr>
              <a:t>GitHub repo</a:t>
            </a:r>
            <a:endParaRPr lang="en-US" sz="1200" dirty="0"/>
          </a:p>
        </p:txBody>
      </p:sp>
      <p:sp>
        <p:nvSpPr>
          <p:cNvPr id="8" name="Shape 6"/>
          <p:cNvSpPr/>
          <p:nvPr/>
        </p:nvSpPr>
        <p:spPr>
          <a:xfrm>
            <a:off x="3291840" y="1417320"/>
            <a:ext cx="320040" cy="0"/>
          </a:xfrm>
          <a:prstGeom prst="line">
            <a:avLst/>
          </a:prstGeom>
          <a:noFill/>
          <a:ln w="19050">
            <a:solidFill>
              <a:srgbClr val="64748B"/>
            </a:solidFill>
            <a:prstDash val="solid"/>
            <a:tailEnd type="triangle"/>
          </a:ln>
        </p:spPr>
      </p:sp>
      <p:sp>
        <p:nvSpPr>
          <p:cNvPr id="9" name="box-GitHub Actions test · scan · build"/>
          <p:cNvSpPr/>
          <p:nvPr/>
        </p:nvSpPr>
        <p:spPr>
          <a:xfrm>
            <a:off x="3657600" y="1143000"/>
            <a:ext cx="2103120" cy="548640"/>
          </a:xfrm>
          <a:prstGeom prst="roundRect">
            <a:avLst>
              <a:gd name="adj" fmla="val 10000"/>
            </a:avLst>
          </a:prstGeom>
          <a:solidFill>
            <a:schemeClr val="accent1"/>
          </a:solidFill>
          <a:ln/>
        </p:spPr>
      </p:sp>
      <p:sp>
        <p:nvSpPr>
          <p:cNvPr id="10" name="Text 8"/>
          <p:cNvSpPr txBox="1"/>
          <p:nvPr/>
        </p:nvSpPr>
        <p:spPr>
          <a:xfrm>
            <a:off x="3657600" y="1143000"/>
            <a:ext cx="2103120" cy="548640"/>
          </a:xfrm>
          <a:prstGeom prst="rect">
            <a:avLst/>
          </a:prstGeom>
          <a:noFill/>
          <a:ln/>
        </p:spPr>
        <p:txBody>
          <a:bodyPr wrap="square" lIns="0" tIns="0" rIns="0" bIns="0" rtlCol="0" anchor="ctr"/>
          <a:lstStyle/>
          <a:p>
            <a:pPr algn="ctr" indent="0" marL="0">
              <a:buNone/>
            </a:pPr>
            <a:r>
              <a:rPr lang="en-US" sz="1200" b="1" dirty="0">
                <a:solidFill>
                  <a:schemeClr val="bg1"/>
                </a:solidFill>
              </a:rPr>
              <a:t>GitHub Actions</a:t>
            </a:r>
            <a:endParaRPr lang="en-US" sz="1200" dirty="0"/>
          </a:p>
          <a:p>
            <a:pPr algn="ctr" indent="0" marL="0">
              <a:buNone/>
            </a:pPr>
            <a:r>
              <a:rPr lang="en-US" sz="1200" b="1" dirty="0">
                <a:solidFill>
                  <a:schemeClr val="bg1"/>
                </a:solidFill>
              </a:rPr>
              <a:t>test · scan · build</a:t>
            </a:r>
            <a:endParaRPr lang="en-US" sz="1200" dirty="0"/>
          </a:p>
        </p:txBody>
      </p:sp>
      <p:sp>
        <p:nvSpPr>
          <p:cNvPr id="11" name="Shape 9"/>
          <p:cNvSpPr/>
          <p:nvPr/>
        </p:nvSpPr>
        <p:spPr>
          <a:xfrm>
            <a:off x="5806440" y="1417320"/>
            <a:ext cx="320040" cy="0"/>
          </a:xfrm>
          <a:prstGeom prst="line">
            <a:avLst/>
          </a:prstGeom>
          <a:noFill/>
          <a:ln w="19050">
            <a:solidFill>
              <a:srgbClr val="64748B"/>
            </a:solidFill>
            <a:prstDash val="solid"/>
            <a:tailEnd type="triangle"/>
          </a:ln>
        </p:spPr>
      </p:sp>
      <p:sp>
        <p:nvSpPr>
          <p:cNvPr id="12" name="box-GHCR images tag = commit SHA"/>
          <p:cNvSpPr/>
          <p:nvPr/>
        </p:nvSpPr>
        <p:spPr>
          <a:xfrm>
            <a:off x="6172200" y="1143000"/>
            <a:ext cx="2514600" cy="548640"/>
          </a:xfrm>
          <a:prstGeom prst="roundRect">
            <a:avLst>
              <a:gd name="adj" fmla="val 10000"/>
            </a:avLst>
          </a:prstGeom>
          <a:solidFill>
            <a:schemeClr val="accent3"/>
          </a:solidFill>
          <a:ln/>
        </p:spPr>
      </p:sp>
      <p:sp>
        <p:nvSpPr>
          <p:cNvPr id="13" name="Text 11"/>
          <p:cNvSpPr txBox="1"/>
          <p:nvPr/>
        </p:nvSpPr>
        <p:spPr>
          <a:xfrm>
            <a:off x="6172200" y="1143000"/>
            <a:ext cx="2514600" cy="548640"/>
          </a:xfrm>
          <a:prstGeom prst="rect">
            <a:avLst/>
          </a:prstGeom>
          <a:noFill/>
          <a:ln/>
        </p:spPr>
        <p:txBody>
          <a:bodyPr wrap="square" lIns="0" tIns="0" rIns="0" bIns="0" rtlCol="0" anchor="ctr"/>
          <a:lstStyle/>
          <a:p>
            <a:pPr algn="ctr" indent="0" marL="0">
              <a:buNone/>
            </a:pPr>
            <a:r>
              <a:rPr lang="en-US" sz="1200" b="1" dirty="0">
                <a:solidFill>
                  <a:schemeClr val="bg1"/>
                </a:solidFill>
              </a:rPr>
              <a:t>GHCR images</a:t>
            </a:r>
            <a:endParaRPr lang="en-US" sz="1200" dirty="0"/>
          </a:p>
          <a:p>
            <a:pPr algn="ctr" indent="0" marL="0">
              <a:buNone/>
            </a:pPr>
            <a:r>
              <a:rPr lang="en-US" sz="1200" b="1" dirty="0">
                <a:solidFill>
                  <a:schemeClr val="bg1"/>
                </a:solidFill>
              </a:rPr>
              <a:t>tag = commit SHA</a:t>
            </a:r>
            <a:endParaRPr lang="en-US" sz="1200" dirty="0"/>
          </a:p>
        </p:txBody>
      </p:sp>
      <p:sp>
        <p:nvSpPr>
          <p:cNvPr id="14" name="cluster"/>
          <p:cNvSpPr/>
          <p:nvPr/>
        </p:nvSpPr>
        <p:spPr>
          <a:xfrm>
            <a:off x="2697480" y="2148840"/>
            <a:ext cx="5989320" cy="2468880"/>
          </a:xfrm>
          <a:prstGeom prst="roundRect">
            <a:avLst>
              <a:gd name="adj" fmla="val 2963"/>
            </a:avLst>
          </a:prstGeom>
          <a:solidFill>
            <a:schemeClr val="bg2"/>
          </a:solidFill>
          <a:ln w="12700">
            <a:solidFill>
              <a:srgbClr val="0F8B8D"/>
            </a:solidFill>
            <a:prstDash val="dash"/>
          </a:ln>
        </p:spPr>
      </p:sp>
      <p:sp>
        <p:nvSpPr>
          <p:cNvPr id="15" name="Text 13"/>
          <p:cNvSpPr txBox="1"/>
          <p:nvPr/>
        </p:nvSpPr>
        <p:spPr>
          <a:xfrm>
            <a:off x="5394960" y="2212848"/>
            <a:ext cx="3154680" cy="256032"/>
          </a:xfrm>
          <a:prstGeom prst="rect">
            <a:avLst/>
          </a:prstGeom>
          <a:noFill/>
          <a:ln/>
        </p:spPr>
        <p:txBody>
          <a:bodyPr wrap="square" lIns="0" tIns="0" rIns="0" bIns="0" rtlCol="0" anchor="t"/>
          <a:lstStyle/>
          <a:p>
            <a:pPr algn="r" indent="0" marL="0">
              <a:buNone/>
            </a:pPr>
            <a:r>
              <a:rPr lang="en-US" sz="1100" b="1" dirty="0">
                <a:solidFill>
                  <a:schemeClr val="accent1"/>
                </a:solidFill>
              </a:rPr>
              <a:t>Kubernetes cluster (Minikube locally · EKS in AWS)</a:t>
            </a:r>
            <a:endParaRPr lang="en-US" sz="1100" dirty="0"/>
          </a:p>
        </p:txBody>
      </p:sp>
      <p:sp>
        <p:nvSpPr>
          <p:cNvPr id="16" name="Shape 14"/>
          <p:cNvSpPr/>
          <p:nvPr/>
        </p:nvSpPr>
        <p:spPr>
          <a:xfrm>
            <a:off x="4709160" y="1737360"/>
            <a:ext cx="0" cy="685800"/>
          </a:xfrm>
          <a:prstGeom prst="line">
            <a:avLst/>
          </a:prstGeom>
          <a:noFill/>
          <a:ln w="19050">
            <a:solidFill>
              <a:srgbClr val="0F8B8D"/>
            </a:solidFill>
            <a:prstDash val="solid"/>
            <a:tailEnd type="triangle"/>
          </a:ln>
        </p:spPr>
      </p:sp>
      <p:sp>
        <p:nvSpPr>
          <p:cNvPr id="17" name="Text 15"/>
          <p:cNvSpPr txBox="1"/>
          <p:nvPr/>
        </p:nvSpPr>
        <p:spPr>
          <a:xfrm>
            <a:off x="4800600" y="1847088"/>
            <a:ext cx="1188720" cy="228600"/>
          </a:xfrm>
          <a:prstGeom prst="rect">
            <a:avLst/>
          </a:prstGeom>
          <a:noFill/>
          <a:ln/>
        </p:spPr>
        <p:txBody>
          <a:bodyPr wrap="square" lIns="0" tIns="0" rIns="0" bIns="0" rtlCol="0" anchor="t"/>
          <a:lstStyle/>
          <a:p>
            <a:pPr indent="0" marL="0">
              <a:buNone/>
            </a:pPr>
            <a:r>
              <a:rPr lang="en-US" sz="1000" i="1" dirty="0">
                <a:solidFill>
                  <a:schemeClr val="accent6"/>
                </a:solidFill>
              </a:rPr>
              <a:t>new tag commit</a:t>
            </a:r>
            <a:endParaRPr lang="en-US" sz="1000" dirty="0"/>
          </a:p>
        </p:txBody>
      </p:sp>
      <p:sp>
        <p:nvSpPr>
          <p:cNvPr id="18" name="box-Argo CD"/>
          <p:cNvSpPr/>
          <p:nvPr/>
        </p:nvSpPr>
        <p:spPr>
          <a:xfrm>
            <a:off x="4069080" y="2514600"/>
            <a:ext cx="1280160" cy="457200"/>
          </a:xfrm>
          <a:prstGeom prst="roundRect">
            <a:avLst>
              <a:gd name="adj" fmla="val 12000"/>
            </a:avLst>
          </a:prstGeom>
          <a:solidFill>
            <a:schemeClr val="accent1"/>
          </a:solidFill>
          <a:ln/>
        </p:spPr>
      </p:sp>
      <p:sp>
        <p:nvSpPr>
          <p:cNvPr id="19" name="Text 17"/>
          <p:cNvSpPr txBox="1"/>
          <p:nvPr/>
        </p:nvSpPr>
        <p:spPr>
          <a:xfrm>
            <a:off x="4069080" y="2514600"/>
            <a:ext cx="1280160" cy="457200"/>
          </a:xfrm>
          <a:prstGeom prst="rect">
            <a:avLst/>
          </a:prstGeom>
          <a:noFill/>
          <a:ln/>
        </p:spPr>
        <p:txBody>
          <a:bodyPr wrap="square" lIns="0" tIns="0" rIns="0" bIns="0" rtlCol="0" anchor="ctr"/>
          <a:lstStyle/>
          <a:p>
            <a:pPr algn="ctr" indent="0" marL="0">
              <a:buNone/>
            </a:pPr>
            <a:r>
              <a:rPr lang="en-US" sz="1200" b="1" dirty="0">
                <a:solidFill>
                  <a:schemeClr val="bg1"/>
                </a:solidFill>
              </a:rPr>
              <a:t>Argo CD</a:t>
            </a:r>
            <a:endParaRPr lang="en-US" sz="1200" dirty="0"/>
          </a:p>
        </p:txBody>
      </p:sp>
      <p:sp>
        <p:nvSpPr>
          <p:cNvPr id="20" name="Shape 18"/>
          <p:cNvSpPr/>
          <p:nvPr/>
        </p:nvSpPr>
        <p:spPr>
          <a:xfrm>
            <a:off x="5394960" y="2743200"/>
            <a:ext cx="320040" cy="0"/>
          </a:xfrm>
          <a:prstGeom prst="line">
            <a:avLst/>
          </a:prstGeom>
          <a:noFill/>
          <a:ln w="19050">
            <a:solidFill>
              <a:srgbClr val="64748B"/>
            </a:solidFill>
            <a:prstDash val="solid"/>
            <a:tailEnd type="triangle"/>
          </a:ln>
        </p:spPr>
      </p:sp>
      <p:sp>
        <p:nvSpPr>
          <p:cNvPr id="21" name="box-Ingress clinic.local"/>
          <p:cNvSpPr/>
          <p:nvPr/>
        </p:nvSpPr>
        <p:spPr>
          <a:xfrm>
            <a:off x="5760720" y="2514600"/>
            <a:ext cx="1234440" cy="457200"/>
          </a:xfrm>
          <a:prstGeom prst="roundRect">
            <a:avLst>
              <a:gd name="adj" fmla="val 12000"/>
            </a:avLst>
          </a:prstGeom>
          <a:solidFill>
            <a:schemeClr val="tx2"/>
          </a:solidFill>
          <a:ln/>
        </p:spPr>
      </p:sp>
      <p:sp>
        <p:nvSpPr>
          <p:cNvPr id="22" name="Text 20"/>
          <p:cNvSpPr txBox="1"/>
          <p:nvPr/>
        </p:nvSpPr>
        <p:spPr>
          <a:xfrm>
            <a:off x="5760720" y="2514600"/>
            <a:ext cx="1234440" cy="457200"/>
          </a:xfrm>
          <a:prstGeom prst="rect">
            <a:avLst/>
          </a:prstGeom>
          <a:noFill/>
          <a:ln/>
        </p:spPr>
        <p:txBody>
          <a:bodyPr wrap="square" lIns="0" tIns="0" rIns="0" bIns="0" rtlCol="0" anchor="ctr"/>
          <a:lstStyle/>
          <a:p>
            <a:pPr algn="ctr" indent="0" marL="0">
              <a:buNone/>
            </a:pPr>
            <a:r>
              <a:rPr lang="en-US" sz="1100" b="1" dirty="0">
                <a:solidFill>
                  <a:schemeClr val="bg1"/>
                </a:solidFill>
              </a:rPr>
              <a:t>Ingress</a:t>
            </a:r>
            <a:endParaRPr lang="en-US" sz="1100" dirty="0"/>
          </a:p>
          <a:p>
            <a:pPr algn="ctr" indent="0" marL="0">
              <a:buNone/>
            </a:pPr>
            <a:r>
              <a:rPr lang="en-US" sz="1100" b="1" dirty="0">
                <a:solidFill>
                  <a:schemeClr val="bg1"/>
                </a:solidFill>
              </a:rPr>
              <a:t>clinic.local</a:t>
            </a:r>
            <a:endParaRPr lang="en-US" sz="1100" dirty="0"/>
          </a:p>
        </p:txBody>
      </p:sp>
      <p:sp>
        <p:nvSpPr>
          <p:cNvPr id="23" name="box-Frontend ×2 React + nginx"/>
          <p:cNvSpPr/>
          <p:nvPr/>
        </p:nvSpPr>
        <p:spPr>
          <a:xfrm>
            <a:off x="7178040" y="2514600"/>
            <a:ext cx="1371600" cy="457200"/>
          </a:xfrm>
          <a:prstGeom prst="roundRect">
            <a:avLst>
              <a:gd name="adj" fmla="val 12000"/>
            </a:avLst>
          </a:prstGeom>
          <a:solidFill>
            <a:schemeClr val="accent3"/>
          </a:solidFill>
          <a:ln/>
        </p:spPr>
      </p:sp>
      <p:sp>
        <p:nvSpPr>
          <p:cNvPr id="24" name="Text 22"/>
          <p:cNvSpPr txBox="1"/>
          <p:nvPr/>
        </p:nvSpPr>
        <p:spPr>
          <a:xfrm>
            <a:off x="7178040" y="2514600"/>
            <a:ext cx="1371600" cy="457200"/>
          </a:xfrm>
          <a:prstGeom prst="rect">
            <a:avLst/>
          </a:prstGeom>
          <a:noFill/>
          <a:ln/>
        </p:spPr>
        <p:txBody>
          <a:bodyPr wrap="square" lIns="0" tIns="0" rIns="0" bIns="0" rtlCol="0" anchor="ctr"/>
          <a:lstStyle/>
          <a:p>
            <a:pPr algn="ctr" indent="0" marL="0">
              <a:buNone/>
            </a:pPr>
            <a:r>
              <a:rPr lang="en-US" sz="1100" b="1" dirty="0">
                <a:solidFill>
                  <a:schemeClr val="bg1"/>
                </a:solidFill>
              </a:rPr>
              <a:t>Frontend ×2</a:t>
            </a:r>
            <a:endParaRPr lang="en-US" sz="1100" dirty="0"/>
          </a:p>
          <a:p>
            <a:pPr algn="ctr" indent="0" marL="0">
              <a:buNone/>
            </a:pPr>
            <a:r>
              <a:rPr lang="en-US" sz="1100" b="1" dirty="0">
                <a:solidFill>
                  <a:schemeClr val="bg1"/>
                </a:solidFill>
              </a:rPr>
              <a:t>React + nginx</a:t>
            </a:r>
            <a:endParaRPr lang="en-US" sz="1100" dirty="0"/>
          </a:p>
        </p:txBody>
      </p:sp>
      <p:sp>
        <p:nvSpPr>
          <p:cNvPr id="25" name="box-Backend ×2–6 FastAPI + HPA"/>
          <p:cNvSpPr/>
          <p:nvPr/>
        </p:nvSpPr>
        <p:spPr>
          <a:xfrm>
            <a:off x="7178040" y="3200400"/>
            <a:ext cx="1371600" cy="457200"/>
          </a:xfrm>
          <a:prstGeom prst="roundRect">
            <a:avLst>
              <a:gd name="adj" fmla="val 12000"/>
            </a:avLst>
          </a:prstGeom>
          <a:solidFill>
            <a:schemeClr val="accent3"/>
          </a:solidFill>
          <a:ln/>
        </p:spPr>
      </p:sp>
      <p:sp>
        <p:nvSpPr>
          <p:cNvPr id="26" name="Text 24"/>
          <p:cNvSpPr txBox="1"/>
          <p:nvPr/>
        </p:nvSpPr>
        <p:spPr>
          <a:xfrm>
            <a:off x="7178040" y="3200400"/>
            <a:ext cx="1371600" cy="457200"/>
          </a:xfrm>
          <a:prstGeom prst="rect">
            <a:avLst/>
          </a:prstGeom>
          <a:noFill/>
          <a:ln/>
        </p:spPr>
        <p:txBody>
          <a:bodyPr wrap="square" lIns="0" tIns="0" rIns="0" bIns="0" rtlCol="0" anchor="ctr"/>
          <a:lstStyle/>
          <a:p>
            <a:pPr algn="ctr" indent="0" marL="0">
              <a:buNone/>
            </a:pPr>
            <a:r>
              <a:rPr lang="en-US" sz="1100" b="1" dirty="0">
                <a:solidFill>
                  <a:schemeClr val="bg1"/>
                </a:solidFill>
              </a:rPr>
              <a:t>Backend ×2–6</a:t>
            </a:r>
            <a:endParaRPr lang="en-US" sz="1100" dirty="0"/>
          </a:p>
          <a:p>
            <a:pPr algn="ctr" indent="0" marL="0">
              <a:buNone/>
            </a:pPr>
            <a:r>
              <a:rPr lang="en-US" sz="1100" b="1" dirty="0">
                <a:solidFill>
                  <a:schemeClr val="bg1"/>
                </a:solidFill>
              </a:rPr>
              <a:t>FastAPI + HPA</a:t>
            </a:r>
            <a:endParaRPr lang="en-US" sz="1100" dirty="0"/>
          </a:p>
        </p:txBody>
      </p:sp>
      <p:sp>
        <p:nvSpPr>
          <p:cNvPr id="27" name="Shape 25"/>
          <p:cNvSpPr/>
          <p:nvPr/>
        </p:nvSpPr>
        <p:spPr>
          <a:xfrm>
            <a:off x="7863840" y="2999232"/>
            <a:ext cx="0" cy="182880"/>
          </a:xfrm>
          <a:prstGeom prst="line">
            <a:avLst/>
          </a:prstGeom>
          <a:noFill/>
          <a:ln w="19050">
            <a:solidFill>
              <a:srgbClr val="64748B"/>
            </a:solidFill>
            <a:prstDash val="solid"/>
            <a:tailEnd type="triangle"/>
          </a:ln>
        </p:spPr>
      </p:sp>
      <p:sp>
        <p:nvSpPr>
          <p:cNvPr id="28" name="box-PostgreSQL StatefulSet + PVC"/>
          <p:cNvSpPr/>
          <p:nvPr/>
        </p:nvSpPr>
        <p:spPr>
          <a:xfrm>
            <a:off x="5440680" y="3200400"/>
            <a:ext cx="1554480" cy="457200"/>
          </a:xfrm>
          <a:prstGeom prst="roundRect">
            <a:avLst>
              <a:gd name="adj" fmla="val 12000"/>
            </a:avLst>
          </a:prstGeom>
          <a:solidFill>
            <a:schemeClr val="tx2"/>
          </a:solidFill>
          <a:ln/>
        </p:spPr>
      </p:sp>
      <p:sp>
        <p:nvSpPr>
          <p:cNvPr id="29" name="Text 27"/>
          <p:cNvSpPr txBox="1"/>
          <p:nvPr/>
        </p:nvSpPr>
        <p:spPr>
          <a:xfrm>
            <a:off x="5440680" y="3200400"/>
            <a:ext cx="1554480" cy="457200"/>
          </a:xfrm>
          <a:prstGeom prst="rect">
            <a:avLst/>
          </a:prstGeom>
          <a:noFill/>
          <a:ln/>
        </p:spPr>
        <p:txBody>
          <a:bodyPr wrap="square" lIns="0" tIns="0" rIns="0" bIns="0" rtlCol="0" anchor="ctr"/>
          <a:lstStyle/>
          <a:p>
            <a:pPr algn="ctr" indent="0" marL="0">
              <a:buNone/>
            </a:pPr>
            <a:r>
              <a:rPr lang="en-US" sz="1100" b="1" dirty="0">
                <a:solidFill>
                  <a:schemeClr val="bg1"/>
                </a:solidFill>
              </a:rPr>
              <a:t>PostgreSQL</a:t>
            </a:r>
            <a:endParaRPr lang="en-US" sz="1100" dirty="0"/>
          </a:p>
          <a:p>
            <a:pPr algn="ctr" indent="0" marL="0">
              <a:buNone/>
            </a:pPr>
            <a:r>
              <a:rPr lang="en-US" sz="1100" b="1" dirty="0">
                <a:solidFill>
                  <a:schemeClr val="bg1"/>
                </a:solidFill>
              </a:rPr>
              <a:t>StatefulSet + PVC</a:t>
            </a:r>
            <a:endParaRPr lang="en-US" sz="1100" dirty="0"/>
          </a:p>
        </p:txBody>
      </p:sp>
      <p:sp>
        <p:nvSpPr>
          <p:cNvPr id="30" name="Shape 28"/>
          <p:cNvSpPr/>
          <p:nvPr/>
        </p:nvSpPr>
        <p:spPr>
          <a:xfrm>
            <a:off x="7013448" y="3429000"/>
            <a:ext cx="137160" cy="0"/>
          </a:xfrm>
          <a:prstGeom prst="line">
            <a:avLst/>
          </a:prstGeom>
          <a:noFill/>
          <a:ln w="19050">
            <a:solidFill>
              <a:srgbClr val="64748B"/>
            </a:solidFill>
            <a:prstDash val="solid"/>
            <a:headEnd type="triangle"/>
          </a:ln>
        </p:spPr>
      </p:sp>
      <p:sp>
        <p:nvSpPr>
          <p:cNvPr id="31" name="box-Prometheus"/>
          <p:cNvSpPr/>
          <p:nvPr/>
        </p:nvSpPr>
        <p:spPr>
          <a:xfrm>
            <a:off x="2880360" y="3931920"/>
            <a:ext cx="1371600" cy="457200"/>
          </a:xfrm>
          <a:prstGeom prst="roundRect">
            <a:avLst>
              <a:gd name="adj" fmla="val 12000"/>
            </a:avLst>
          </a:prstGeom>
          <a:solidFill>
            <a:schemeClr val="accent4"/>
          </a:solidFill>
          <a:ln/>
        </p:spPr>
      </p:sp>
      <p:sp>
        <p:nvSpPr>
          <p:cNvPr id="32" name="Text 30"/>
          <p:cNvSpPr txBox="1"/>
          <p:nvPr/>
        </p:nvSpPr>
        <p:spPr>
          <a:xfrm>
            <a:off x="2880360" y="3931920"/>
            <a:ext cx="1371600" cy="457200"/>
          </a:xfrm>
          <a:prstGeom prst="rect">
            <a:avLst/>
          </a:prstGeom>
          <a:noFill/>
          <a:ln/>
        </p:spPr>
        <p:txBody>
          <a:bodyPr wrap="square" lIns="0" tIns="0" rIns="0" bIns="0" rtlCol="0" anchor="ctr"/>
          <a:lstStyle/>
          <a:p>
            <a:pPr algn="ctr" indent="0" marL="0">
              <a:buNone/>
            </a:pPr>
            <a:r>
              <a:rPr lang="en-US" sz="1100" b="1" dirty="0">
                <a:solidFill>
                  <a:schemeClr val="bg1"/>
                </a:solidFill>
              </a:rPr>
              <a:t>Prometheus</a:t>
            </a:r>
            <a:endParaRPr lang="en-US" sz="1100" dirty="0"/>
          </a:p>
        </p:txBody>
      </p:sp>
      <p:sp>
        <p:nvSpPr>
          <p:cNvPr id="33" name="Shape 31"/>
          <p:cNvSpPr/>
          <p:nvPr/>
        </p:nvSpPr>
        <p:spPr>
          <a:xfrm>
            <a:off x="4297680" y="4160520"/>
            <a:ext cx="320040" cy="0"/>
          </a:xfrm>
          <a:prstGeom prst="line">
            <a:avLst/>
          </a:prstGeom>
          <a:noFill/>
          <a:ln w="19050">
            <a:solidFill>
              <a:srgbClr val="64748B"/>
            </a:solidFill>
            <a:prstDash val="solid"/>
            <a:tailEnd type="triangle"/>
          </a:ln>
        </p:spPr>
      </p:sp>
      <p:sp>
        <p:nvSpPr>
          <p:cNvPr id="34" name="box-Grafana"/>
          <p:cNvSpPr/>
          <p:nvPr/>
        </p:nvSpPr>
        <p:spPr>
          <a:xfrm>
            <a:off x="4663440" y="3931920"/>
            <a:ext cx="1188720" cy="457200"/>
          </a:xfrm>
          <a:prstGeom prst="roundRect">
            <a:avLst>
              <a:gd name="adj" fmla="val 12000"/>
            </a:avLst>
          </a:prstGeom>
          <a:solidFill>
            <a:schemeClr val="accent4"/>
          </a:solidFill>
          <a:ln/>
        </p:spPr>
      </p:sp>
      <p:sp>
        <p:nvSpPr>
          <p:cNvPr id="35" name="Text 33"/>
          <p:cNvSpPr txBox="1"/>
          <p:nvPr/>
        </p:nvSpPr>
        <p:spPr>
          <a:xfrm>
            <a:off x="4663440" y="3931920"/>
            <a:ext cx="1188720" cy="457200"/>
          </a:xfrm>
          <a:prstGeom prst="rect">
            <a:avLst/>
          </a:prstGeom>
          <a:noFill/>
          <a:ln/>
        </p:spPr>
        <p:txBody>
          <a:bodyPr wrap="square" lIns="0" tIns="0" rIns="0" bIns="0" rtlCol="0" anchor="ctr"/>
          <a:lstStyle/>
          <a:p>
            <a:pPr algn="ctr" indent="0" marL="0">
              <a:buNone/>
            </a:pPr>
            <a:r>
              <a:rPr lang="en-US" sz="1100" b="1" dirty="0">
                <a:solidFill>
                  <a:schemeClr val="bg1"/>
                </a:solidFill>
              </a:rPr>
              <a:t>Grafana</a:t>
            </a:r>
            <a:endParaRPr lang="en-US" sz="1100" dirty="0"/>
          </a:p>
        </p:txBody>
      </p:sp>
      <p:sp>
        <p:nvSpPr>
          <p:cNvPr id="36" name="Text 34"/>
          <p:cNvSpPr txBox="1"/>
          <p:nvPr/>
        </p:nvSpPr>
        <p:spPr>
          <a:xfrm>
            <a:off x="5989320" y="4041648"/>
            <a:ext cx="2560320" cy="274320"/>
          </a:xfrm>
          <a:prstGeom prst="rect">
            <a:avLst/>
          </a:prstGeom>
          <a:noFill/>
          <a:ln/>
        </p:spPr>
        <p:txBody>
          <a:bodyPr wrap="square" lIns="0" tIns="0" rIns="0" bIns="0" rtlCol="0" anchor="t"/>
          <a:lstStyle/>
          <a:p>
            <a:pPr indent="0" marL="0">
              <a:buNone/>
            </a:pPr>
            <a:r>
              <a:rPr lang="en-US" sz="1100" i="1" dirty="0">
                <a:solidFill>
                  <a:schemeClr val="accent6"/>
                </a:solidFill>
              </a:rPr>
              <a:t>scrapes /metrics every 15 s</a:t>
            </a:r>
            <a:endParaRPr lang="en-US" sz="1100" dirty="0"/>
          </a:p>
        </p:txBody>
      </p:sp>
      <p:sp>
        <p:nvSpPr>
          <p:cNvPr id="37" name="box-Terraform"/>
          <p:cNvSpPr/>
          <p:nvPr/>
        </p:nvSpPr>
        <p:spPr>
          <a:xfrm>
            <a:off x="457200" y="2514600"/>
            <a:ext cx="1737360" cy="457200"/>
          </a:xfrm>
          <a:prstGeom prst="roundRect">
            <a:avLst>
              <a:gd name="adj" fmla="val 12000"/>
            </a:avLst>
          </a:prstGeom>
          <a:solidFill>
            <a:schemeClr val="accent2"/>
          </a:solidFill>
          <a:ln/>
        </p:spPr>
      </p:sp>
      <p:sp>
        <p:nvSpPr>
          <p:cNvPr id="38" name="Text 36"/>
          <p:cNvSpPr txBox="1"/>
          <p:nvPr/>
        </p:nvSpPr>
        <p:spPr>
          <a:xfrm>
            <a:off x="457200" y="2514600"/>
            <a:ext cx="1737360" cy="457200"/>
          </a:xfrm>
          <a:prstGeom prst="rect">
            <a:avLst/>
          </a:prstGeom>
          <a:noFill/>
          <a:ln/>
        </p:spPr>
        <p:txBody>
          <a:bodyPr wrap="square" lIns="0" tIns="0" rIns="0" bIns="0" rtlCol="0" anchor="ctr"/>
          <a:lstStyle/>
          <a:p>
            <a:pPr algn="ctr" indent="0" marL="0">
              <a:buNone/>
            </a:pPr>
            <a:r>
              <a:rPr lang="en-US" sz="1200" b="1" dirty="0">
                <a:solidFill>
                  <a:schemeClr val="bg1"/>
                </a:solidFill>
              </a:rPr>
              <a:t>Terraform</a:t>
            </a:r>
            <a:endParaRPr lang="en-US" sz="1200" dirty="0"/>
          </a:p>
        </p:txBody>
      </p:sp>
      <p:sp>
        <p:nvSpPr>
          <p:cNvPr id="39" name="Shape 37"/>
          <p:cNvSpPr/>
          <p:nvPr/>
        </p:nvSpPr>
        <p:spPr>
          <a:xfrm>
            <a:off x="1325880" y="3017520"/>
            <a:ext cx="0" cy="320040"/>
          </a:xfrm>
          <a:prstGeom prst="line">
            <a:avLst/>
          </a:prstGeom>
          <a:noFill/>
          <a:ln w="19050">
            <a:solidFill>
              <a:srgbClr val="E5486B"/>
            </a:solidFill>
            <a:prstDash val="solid"/>
            <a:tailEnd type="triangle"/>
          </a:ln>
        </p:spPr>
      </p:sp>
      <p:sp>
        <p:nvSpPr>
          <p:cNvPr id="40" name="box-aws"/>
          <p:cNvSpPr/>
          <p:nvPr/>
        </p:nvSpPr>
        <p:spPr>
          <a:xfrm>
            <a:off x="457200" y="3383280"/>
            <a:ext cx="1737360" cy="594360"/>
          </a:xfrm>
          <a:prstGeom prst="roundRect">
            <a:avLst>
              <a:gd name="adj" fmla="val 9231"/>
            </a:avLst>
          </a:prstGeom>
          <a:solidFill>
            <a:schemeClr val="bg2"/>
          </a:solidFill>
          <a:ln/>
        </p:spPr>
      </p:sp>
      <p:sp>
        <p:nvSpPr>
          <p:cNvPr id="41" name="Text 39"/>
          <p:cNvSpPr txBox="1"/>
          <p:nvPr/>
        </p:nvSpPr>
        <p:spPr>
          <a:xfrm>
            <a:off x="457200" y="3383280"/>
            <a:ext cx="1737360" cy="594360"/>
          </a:xfrm>
          <a:prstGeom prst="rect">
            <a:avLst/>
          </a:prstGeom>
          <a:noFill/>
          <a:ln/>
        </p:spPr>
        <p:txBody>
          <a:bodyPr wrap="square" lIns="0" tIns="0" rIns="0" bIns="0" rtlCol="0" anchor="ctr"/>
          <a:lstStyle/>
          <a:p>
            <a:pPr algn="ctr" indent="0" marL="0">
              <a:buNone/>
            </a:pPr>
            <a:r>
              <a:rPr lang="en-US" sz="1100" b="1" dirty="0">
                <a:solidFill>
                  <a:schemeClr val="tx1"/>
                </a:solidFill>
              </a:rPr>
              <a:t>AWS VPC + EKS</a:t>
            </a:r>
            <a:endParaRPr lang="en-US" sz="1100" dirty="0"/>
          </a:p>
          <a:p>
            <a:pPr algn="ctr" indent="0" marL="0">
              <a:buNone/>
            </a:pPr>
            <a:r>
              <a:rPr lang="en-US" sz="1100" b="1" dirty="0">
                <a:solidFill>
                  <a:schemeClr val="tx1"/>
                </a:solidFill>
              </a:rPr>
              <a:t>60 resources planned</a:t>
            </a:r>
            <a:endParaRPr lang="en-US" sz="1100" dirty="0"/>
          </a:p>
        </p:txBody>
      </p:sp>
      <p:sp>
        <p:nvSpPr>
          <p:cNvPr id="42" name="Shape 40"/>
          <p:cNvSpPr/>
          <p:nvPr/>
        </p:nvSpPr>
        <p:spPr>
          <a:xfrm>
            <a:off x="2240280" y="3657600"/>
            <a:ext cx="411480" cy="0"/>
          </a:xfrm>
          <a:prstGeom prst="line">
            <a:avLst/>
          </a:prstGeom>
          <a:noFill/>
          <a:ln w="19050">
            <a:solidFill>
              <a:srgbClr val="E5486B"/>
            </a:solidFill>
            <a:prstDash val="dash"/>
            <a:tailEnd type="triangle"/>
          </a:ln>
        </p:spPr>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CI/CD pipeline on every push to main</a:t>
            </a:r>
            <a:endParaRPr lang="en-US" sz="3200" dirty="0"/>
          </a:p>
        </p:txBody>
      </p:sp>
      <p:sp>
        <p:nvSpPr>
          <p:cNvPr id="3" name="step-Test"/>
          <p:cNvSpPr/>
          <p:nvPr/>
        </p:nvSpPr>
        <p:spPr>
          <a:xfrm>
            <a:off x="457200" y="1143000"/>
            <a:ext cx="1481328" cy="1143000"/>
          </a:xfrm>
          <a:prstGeom prst="roundRect">
            <a:avLst>
              <a:gd name="adj" fmla="val 6400"/>
            </a:avLst>
          </a:prstGeom>
          <a:solidFill>
            <a:schemeClr val="bg2"/>
          </a:solidFill>
          <a:ln/>
        </p:spPr>
      </p:sp>
      <p:sp>
        <p:nvSpPr>
          <p:cNvPr id="4" name="Shape 2"/>
          <p:cNvSpPr/>
          <p:nvPr/>
        </p:nvSpPr>
        <p:spPr>
          <a:xfrm>
            <a:off x="566928" y="1252728"/>
            <a:ext cx="329184" cy="329184"/>
          </a:xfrm>
          <a:prstGeom prst="ellipse">
            <a:avLst/>
          </a:prstGeom>
          <a:solidFill>
            <a:schemeClr val="accent1"/>
          </a:solidFill>
          <a:ln/>
        </p:spPr>
      </p:sp>
      <p:sp>
        <p:nvSpPr>
          <p:cNvPr id="5" name="Text 3"/>
          <p:cNvSpPr txBox="1"/>
          <p:nvPr/>
        </p:nvSpPr>
        <p:spPr>
          <a:xfrm>
            <a:off x="566928" y="1252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69264" y="1271016"/>
            <a:ext cx="914400" cy="292608"/>
          </a:xfrm>
          <a:prstGeom prst="rect">
            <a:avLst/>
          </a:prstGeom>
          <a:noFill/>
          <a:ln/>
        </p:spPr>
        <p:txBody>
          <a:bodyPr wrap="square" lIns="0" tIns="0" rIns="0" bIns="0" rtlCol="0" anchor="ctr"/>
          <a:lstStyle/>
          <a:p>
            <a:pPr indent="0" marL="0">
              <a:buNone/>
            </a:pPr>
            <a:r>
              <a:rPr lang="en-US" sz="1400" b="1" dirty="0">
                <a:solidFill>
                  <a:schemeClr val="tx1"/>
                </a:solidFill>
              </a:rPr>
              <a:t>Test</a:t>
            </a:r>
            <a:endParaRPr lang="en-US" sz="1400" dirty="0"/>
          </a:p>
        </p:txBody>
      </p:sp>
      <p:sp>
        <p:nvSpPr>
          <p:cNvPr id="7" name="Text 5"/>
          <p:cNvSpPr txBox="1"/>
          <p:nvPr/>
        </p:nvSpPr>
        <p:spPr>
          <a:xfrm>
            <a:off x="566928" y="1673352"/>
            <a:ext cx="1298448" cy="548640"/>
          </a:xfrm>
          <a:prstGeom prst="rect">
            <a:avLst/>
          </a:prstGeom>
          <a:noFill/>
          <a:ln/>
        </p:spPr>
        <p:txBody>
          <a:bodyPr wrap="square" lIns="0" tIns="0" rIns="0" bIns="0" rtlCol="0" anchor="t"/>
          <a:lstStyle/>
          <a:p>
            <a:pPr indent="0" marL="0">
              <a:buNone/>
            </a:pPr>
            <a:r>
              <a:rPr lang="en-US" sz="1100" dirty="0">
                <a:solidFill>
                  <a:schemeClr val="accent6"/>
                </a:solidFill>
              </a:rPr>
              <a:t>ruff + 24 pytest</a:t>
            </a:r>
            <a:endParaRPr lang="en-US" sz="1100" dirty="0"/>
          </a:p>
          <a:p>
            <a:pPr indent="0" marL="0">
              <a:buNone/>
            </a:pPr>
            <a:r>
              <a:rPr lang="en-US" sz="1100" dirty="0">
                <a:solidFill>
                  <a:schemeClr val="accent6"/>
                </a:solidFill>
              </a:rPr>
              <a:t>frontend build</a:t>
            </a:r>
            <a:endParaRPr lang="en-US" sz="1100" dirty="0"/>
          </a:p>
        </p:txBody>
      </p:sp>
      <p:sp>
        <p:nvSpPr>
          <p:cNvPr id="8" name="Shape 6"/>
          <p:cNvSpPr/>
          <p:nvPr/>
        </p:nvSpPr>
        <p:spPr>
          <a:xfrm>
            <a:off x="1956816" y="1709928"/>
            <a:ext cx="169164" cy="0"/>
          </a:xfrm>
          <a:prstGeom prst="line">
            <a:avLst/>
          </a:prstGeom>
          <a:noFill/>
          <a:ln w="19050">
            <a:solidFill>
              <a:srgbClr val="0F8B8D"/>
            </a:solidFill>
            <a:prstDash val="solid"/>
            <a:tailEnd type="triangle"/>
          </a:ln>
        </p:spPr>
      </p:sp>
      <p:sp>
        <p:nvSpPr>
          <p:cNvPr id="9" name="step-Security"/>
          <p:cNvSpPr/>
          <p:nvPr/>
        </p:nvSpPr>
        <p:spPr>
          <a:xfrm>
            <a:off x="2144268" y="1143000"/>
            <a:ext cx="1481328" cy="1143000"/>
          </a:xfrm>
          <a:prstGeom prst="roundRect">
            <a:avLst>
              <a:gd name="adj" fmla="val 6400"/>
            </a:avLst>
          </a:prstGeom>
          <a:solidFill>
            <a:schemeClr val="bg2"/>
          </a:solidFill>
          <a:ln/>
        </p:spPr>
      </p:sp>
      <p:sp>
        <p:nvSpPr>
          <p:cNvPr id="10" name="Shape 8"/>
          <p:cNvSpPr/>
          <p:nvPr/>
        </p:nvSpPr>
        <p:spPr>
          <a:xfrm>
            <a:off x="2253996" y="1252728"/>
            <a:ext cx="329184" cy="329184"/>
          </a:xfrm>
          <a:prstGeom prst="ellipse">
            <a:avLst/>
          </a:prstGeom>
          <a:solidFill>
            <a:schemeClr val="accent1"/>
          </a:solidFill>
          <a:ln/>
        </p:spPr>
      </p:sp>
      <p:sp>
        <p:nvSpPr>
          <p:cNvPr id="11" name="Text 9"/>
          <p:cNvSpPr txBox="1"/>
          <p:nvPr/>
        </p:nvSpPr>
        <p:spPr>
          <a:xfrm>
            <a:off x="2253996" y="1252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2656332" y="1271016"/>
            <a:ext cx="914400" cy="292608"/>
          </a:xfrm>
          <a:prstGeom prst="rect">
            <a:avLst/>
          </a:prstGeom>
          <a:noFill/>
          <a:ln/>
        </p:spPr>
        <p:txBody>
          <a:bodyPr wrap="square" lIns="0" tIns="0" rIns="0" bIns="0" rtlCol="0" anchor="ctr"/>
          <a:lstStyle/>
          <a:p>
            <a:pPr indent="0" marL="0">
              <a:buNone/>
            </a:pPr>
            <a:r>
              <a:rPr lang="en-US" sz="1400" b="1" dirty="0">
                <a:solidFill>
                  <a:schemeClr val="tx1"/>
                </a:solidFill>
              </a:rPr>
              <a:t>Security</a:t>
            </a:r>
            <a:endParaRPr lang="en-US" sz="1400" dirty="0"/>
          </a:p>
        </p:txBody>
      </p:sp>
      <p:sp>
        <p:nvSpPr>
          <p:cNvPr id="13" name="Text 11"/>
          <p:cNvSpPr txBox="1"/>
          <p:nvPr/>
        </p:nvSpPr>
        <p:spPr>
          <a:xfrm>
            <a:off x="2253996" y="1673352"/>
            <a:ext cx="1298448" cy="548640"/>
          </a:xfrm>
          <a:prstGeom prst="rect">
            <a:avLst/>
          </a:prstGeom>
          <a:noFill/>
          <a:ln/>
        </p:spPr>
        <p:txBody>
          <a:bodyPr wrap="square" lIns="0" tIns="0" rIns="0" bIns="0" rtlCol="0" anchor="t"/>
          <a:lstStyle/>
          <a:p>
            <a:pPr indent="0" marL="0">
              <a:buNone/>
            </a:pPr>
            <a:r>
              <a:rPr lang="en-US" sz="1100" dirty="0">
                <a:solidFill>
                  <a:schemeClr val="accent6"/>
                </a:solidFill>
              </a:rPr>
              <a:t>Bandit · pip-audit</a:t>
            </a:r>
            <a:endParaRPr lang="en-US" sz="1100" dirty="0"/>
          </a:p>
          <a:p>
            <a:pPr indent="0" marL="0">
              <a:buNone/>
            </a:pPr>
            <a:r>
              <a:rPr lang="en-US" sz="1100" dirty="0">
                <a:solidFill>
                  <a:schemeClr val="accent6"/>
                </a:solidFill>
              </a:rPr>
              <a:t>npm audit · Gitleaks</a:t>
            </a:r>
            <a:endParaRPr lang="en-US" sz="1100" dirty="0"/>
          </a:p>
        </p:txBody>
      </p:sp>
      <p:sp>
        <p:nvSpPr>
          <p:cNvPr id="14" name="Shape 12"/>
          <p:cNvSpPr/>
          <p:nvPr/>
        </p:nvSpPr>
        <p:spPr>
          <a:xfrm>
            <a:off x="3643884" y="1709928"/>
            <a:ext cx="169164" cy="0"/>
          </a:xfrm>
          <a:prstGeom prst="line">
            <a:avLst/>
          </a:prstGeom>
          <a:noFill/>
          <a:ln w="19050">
            <a:solidFill>
              <a:srgbClr val="0F8B8D"/>
            </a:solidFill>
            <a:prstDash val="solid"/>
            <a:tailEnd type="triangle"/>
          </a:ln>
        </p:spPr>
      </p:sp>
      <p:sp>
        <p:nvSpPr>
          <p:cNvPr id="15" name="step-Build &amp; scan"/>
          <p:cNvSpPr/>
          <p:nvPr/>
        </p:nvSpPr>
        <p:spPr>
          <a:xfrm>
            <a:off x="3831336" y="1143000"/>
            <a:ext cx="1481328" cy="1143000"/>
          </a:xfrm>
          <a:prstGeom prst="roundRect">
            <a:avLst>
              <a:gd name="adj" fmla="val 6400"/>
            </a:avLst>
          </a:prstGeom>
          <a:solidFill>
            <a:schemeClr val="bg2"/>
          </a:solidFill>
          <a:ln/>
        </p:spPr>
      </p:sp>
      <p:sp>
        <p:nvSpPr>
          <p:cNvPr id="16" name="Shape 14"/>
          <p:cNvSpPr/>
          <p:nvPr/>
        </p:nvSpPr>
        <p:spPr>
          <a:xfrm>
            <a:off x="3941064" y="1252728"/>
            <a:ext cx="329184" cy="329184"/>
          </a:xfrm>
          <a:prstGeom prst="ellipse">
            <a:avLst/>
          </a:prstGeom>
          <a:solidFill>
            <a:schemeClr val="accent1"/>
          </a:solidFill>
          <a:ln/>
        </p:spPr>
      </p:sp>
      <p:sp>
        <p:nvSpPr>
          <p:cNvPr id="17" name="Text 15"/>
          <p:cNvSpPr txBox="1"/>
          <p:nvPr/>
        </p:nvSpPr>
        <p:spPr>
          <a:xfrm>
            <a:off x="3941064" y="1252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6"/>
          <p:cNvSpPr txBox="1"/>
          <p:nvPr/>
        </p:nvSpPr>
        <p:spPr>
          <a:xfrm>
            <a:off x="4343400" y="1271016"/>
            <a:ext cx="914400" cy="292608"/>
          </a:xfrm>
          <a:prstGeom prst="rect">
            <a:avLst/>
          </a:prstGeom>
          <a:noFill/>
          <a:ln/>
        </p:spPr>
        <p:txBody>
          <a:bodyPr wrap="square" lIns="0" tIns="0" rIns="0" bIns="0" rtlCol="0" anchor="ctr"/>
          <a:lstStyle/>
          <a:p>
            <a:pPr indent="0" marL="0">
              <a:buNone/>
            </a:pPr>
            <a:r>
              <a:rPr lang="en-US" sz="1400" b="1" dirty="0">
                <a:solidFill>
                  <a:schemeClr val="tx1"/>
                </a:solidFill>
              </a:rPr>
              <a:t>Build &amp; scan</a:t>
            </a:r>
            <a:endParaRPr lang="en-US" sz="1400" dirty="0"/>
          </a:p>
        </p:txBody>
      </p:sp>
      <p:sp>
        <p:nvSpPr>
          <p:cNvPr id="19" name="Text 17"/>
          <p:cNvSpPr txBox="1"/>
          <p:nvPr/>
        </p:nvSpPr>
        <p:spPr>
          <a:xfrm>
            <a:off x="3941064" y="1673352"/>
            <a:ext cx="1298448" cy="548640"/>
          </a:xfrm>
          <a:prstGeom prst="rect">
            <a:avLst/>
          </a:prstGeom>
          <a:noFill/>
          <a:ln/>
        </p:spPr>
        <p:txBody>
          <a:bodyPr wrap="square" lIns="0" tIns="0" rIns="0" bIns="0" rtlCol="0" anchor="t"/>
          <a:lstStyle/>
          <a:p>
            <a:pPr indent="0" marL="0">
              <a:buNone/>
            </a:pPr>
            <a:r>
              <a:rPr lang="en-US" sz="1100" dirty="0">
                <a:solidFill>
                  <a:schemeClr val="accent6"/>
                </a:solidFill>
              </a:rPr>
              <a:t>Docker build</a:t>
            </a:r>
            <a:endParaRPr lang="en-US" sz="1100" dirty="0"/>
          </a:p>
          <a:p>
            <a:pPr indent="0" marL="0">
              <a:buNone/>
            </a:pPr>
            <a:r>
              <a:rPr lang="en-US" sz="1100" dirty="0">
                <a:solidFill>
                  <a:schemeClr val="accent6"/>
                </a:solidFill>
              </a:rPr>
              <a:t>Trivy gate</a:t>
            </a:r>
            <a:endParaRPr lang="en-US" sz="1100" dirty="0"/>
          </a:p>
        </p:txBody>
      </p:sp>
      <p:sp>
        <p:nvSpPr>
          <p:cNvPr id="20" name="Shape 18"/>
          <p:cNvSpPr/>
          <p:nvPr/>
        </p:nvSpPr>
        <p:spPr>
          <a:xfrm>
            <a:off x="5330952" y="1709928"/>
            <a:ext cx="169164" cy="0"/>
          </a:xfrm>
          <a:prstGeom prst="line">
            <a:avLst/>
          </a:prstGeom>
          <a:noFill/>
          <a:ln w="19050">
            <a:solidFill>
              <a:srgbClr val="0F8B8D"/>
            </a:solidFill>
            <a:prstDash val="solid"/>
            <a:tailEnd type="triangle"/>
          </a:ln>
        </p:spPr>
      </p:sp>
      <p:sp>
        <p:nvSpPr>
          <p:cNvPr id="21" name="step-Push"/>
          <p:cNvSpPr/>
          <p:nvPr/>
        </p:nvSpPr>
        <p:spPr>
          <a:xfrm>
            <a:off x="5518404" y="1143000"/>
            <a:ext cx="1481328" cy="1143000"/>
          </a:xfrm>
          <a:prstGeom prst="roundRect">
            <a:avLst>
              <a:gd name="adj" fmla="val 6400"/>
            </a:avLst>
          </a:prstGeom>
          <a:solidFill>
            <a:schemeClr val="bg2"/>
          </a:solidFill>
          <a:ln/>
        </p:spPr>
      </p:sp>
      <p:sp>
        <p:nvSpPr>
          <p:cNvPr id="22" name="Shape 20"/>
          <p:cNvSpPr/>
          <p:nvPr/>
        </p:nvSpPr>
        <p:spPr>
          <a:xfrm>
            <a:off x="5628132" y="1252728"/>
            <a:ext cx="329184" cy="329184"/>
          </a:xfrm>
          <a:prstGeom prst="ellipse">
            <a:avLst/>
          </a:prstGeom>
          <a:solidFill>
            <a:schemeClr val="accent1"/>
          </a:solidFill>
          <a:ln/>
        </p:spPr>
      </p:sp>
      <p:sp>
        <p:nvSpPr>
          <p:cNvPr id="23" name="Text 21"/>
          <p:cNvSpPr txBox="1"/>
          <p:nvPr/>
        </p:nvSpPr>
        <p:spPr>
          <a:xfrm>
            <a:off x="5628132" y="1252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6030468" y="1271016"/>
            <a:ext cx="914400" cy="292608"/>
          </a:xfrm>
          <a:prstGeom prst="rect">
            <a:avLst/>
          </a:prstGeom>
          <a:noFill/>
          <a:ln/>
        </p:spPr>
        <p:txBody>
          <a:bodyPr wrap="square" lIns="0" tIns="0" rIns="0" bIns="0" rtlCol="0" anchor="ctr"/>
          <a:lstStyle/>
          <a:p>
            <a:pPr indent="0" marL="0">
              <a:buNone/>
            </a:pPr>
            <a:r>
              <a:rPr lang="en-US" sz="1400" b="1" dirty="0">
                <a:solidFill>
                  <a:schemeClr val="tx1"/>
                </a:solidFill>
              </a:rPr>
              <a:t>Push</a:t>
            </a:r>
            <a:endParaRPr lang="en-US" sz="1400" dirty="0"/>
          </a:p>
        </p:txBody>
      </p:sp>
      <p:sp>
        <p:nvSpPr>
          <p:cNvPr id="25" name="Text 23"/>
          <p:cNvSpPr txBox="1"/>
          <p:nvPr/>
        </p:nvSpPr>
        <p:spPr>
          <a:xfrm>
            <a:off x="5628132" y="1673352"/>
            <a:ext cx="1298448" cy="548640"/>
          </a:xfrm>
          <a:prstGeom prst="rect">
            <a:avLst/>
          </a:prstGeom>
          <a:noFill/>
          <a:ln/>
        </p:spPr>
        <p:txBody>
          <a:bodyPr wrap="square" lIns="0" tIns="0" rIns="0" bIns="0" rtlCol="0" anchor="t"/>
          <a:lstStyle/>
          <a:p>
            <a:pPr indent="0" marL="0">
              <a:buNone/>
            </a:pPr>
            <a:r>
              <a:rPr lang="en-US" sz="1100" dirty="0">
                <a:solidFill>
                  <a:schemeClr val="accent6"/>
                </a:solidFill>
              </a:rPr>
              <a:t>GHCR, tag =</a:t>
            </a:r>
            <a:endParaRPr lang="en-US" sz="1100" dirty="0"/>
          </a:p>
          <a:p>
            <a:pPr indent="0" marL="0">
              <a:buNone/>
            </a:pPr>
            <a:r>
              <a:rPr lang="en-US" sz="1100" dirty="0">
                <a:solidFill>
                  <a:schemeClr val="accent6"/>
                </a:solidFill>
              </a:rPr>
              <a:t>commit SHA</a:t>
            </a:r>
            <a:endParaRPr lang="en-US" sz="1100" dirty="0"/>
          </a:p>
        </p:txBody>
      </p:sp>
      <p:sp>
        <p:nvSpPr>
          <p:cNvPr id="26" name="Shape 24"/>
          <p:cNvSpPr/>
          <p:nvPr/>
        </p:nvSpPr>
        <p:spPr>
          <a:xfrm>
            <a:off x="7018020" y="1709928"/>
            <a:ext cx="169164" cy="0"/>
          </a:xfrm>
          <a:prstGeom prst="line">
            <a:avLst/>
          </a:prstGeom>
          <a:noFill/>
          <a:ln w="19050">
            <a:solidFill>
              <a:srgbClr val="0F8B8D"/>
            </a:solidFill>
            <a:prstDash val="solid"/>
            <a:tailEnd type="triangle"/>
          </a:ln>
        </p:spPr>
      </p:sp>
      <p:sp>
        <p:nvSpPr>
          <p:cNvPr id="27" name="step-Deploy"/>
          <p:cNvSpPr/>
          <p:nvPr/>
        </p:nvSpPr>
        <p:spPr>
          <a:xfrm>
            <a:off x="7205472" y="1143000"/>
            <a:ext cx="1481328" cy="1143000"/>
          </a:xfrm>
          <a:prstGeom prst="roundRect">
            <a:avLst>
              <a:gd name="adj" fmla="val 6400"/>
            </a:avLst>
          </a:prstGeom>
          <a:solidFill>
            <a:schemeClr val="bg2"/>
          </a:solidFill>
          <a:ln/>
        </p:spPr>
      </p:sp>
      <p:sp>
        <p:nvSpPr>
          <p:cNvPr id="28" name="Shape 26"/>
          <p:cNvSpPr/>
          <p:nvPr/>
        </p:nvSpPr>
        <p:spPr>
          <a:xfrm>
            <a:off x="7315200" y="1252728"/>
            <a:ext cx="329184" cy="329184"/>
          </a:xfrm>
          <a:prstGeom prst="ellipse">
            <a:avLst/>
          </a:prstGeom>
          <a:solidFill>
            <a:schemeClr val="accent1"/>
          </a:solidFill>
          <a:ln/>
        </p:spPr>
      </p:sp>
      <p:sp>
        <p:nvSpPr>
          <p:cNvPr id="29" name="Text 27"/>
          <p:cNvSpPr txBox="1"/>
          <p:nvPr/>
        </p:nvSpPr>
        <p:spPr>
          <a:xfrm>
            <a:off x="7315200" y="12527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 28"/>
          <p:cNvSpPr txBox="1"/>
          <p:nvPr/>
        </p:nvSpPr>
        <p:spPr>
          <a:xfrm>
            <a:off x="7717536" y="1271016"/>
            <a:ext cx="914400" cy="292608"/>
          </a:xfrm>
          <a:prstGeom prst="rect">
            <a:avLst/>
          </a:prstGeom>
          <a:noFill/>
          <a:ln/>
        </p:spPr>
        <p:txBody>
          <a:bodyPr wrap="square" lIns="0" tIns="0" rIns="0" bIns="0" rtlCol="0" anchor="ctr"/>
          <a:lstStyle/>
          <a:p>
            <a:pPr indent="0" marL="0">
              <a:buNone/>
            </a:pPr>
            <a:r>
              <a:rPr lang="en-US" sz="1400" b="1" dirty="0">
                <a:solidFill>
                  <a:schemeClr val="tx1"/>
                </a:solidFill>
              </a:rPr>
              <a:t>Deploy</a:t>
            </a:r>
            <a:endParaRPr lang="en-US" sz="1400" dirty="0"/>
          </a:p>
        </p:txBody>
      </p:sp>
      <p:sp>
        <p:nvSpPr>
          <p:cNvPr id="31" name="Text 29"/>
          <p:cNvSpPr txBox="1"/>
          <p:nvPr/>
        </p:nvSpPr>
        <p:spPr>
          <a:xfrm>
            <a:off x="7315200" y="1673352"/>
            <a:ext cx="1298448" cy="548640"/>
          </a:xfrm>
          <a:prstGeom prst="rect">
            <a:avLst/>
          </a:prstGeom>
          <a:noFill/>
          <a:ln/>
        </p:spPr>
        <p:txBody>
          <a:bodyPr wrap="square" lIns="0" tIns="0" rIns="0" bIns="0" rtlCol="0" anchor="t"/>
          <a:lstStyle/>
          <a:p>
            <a:pPr indent="0" marL="0">
              <a:buNone/>
            </a:pPr>
            <a:r>
              <a:rPr lang="en-US" sz="1100" dirty="0">
                <a:solidFill>
                  <a:schemeClr val="accent6"/>
                </a:solidFill>
              </a:rPr>
              <a:t>kind smoke test</a:t>
            </a:r>
            <a:endParaRPr lang="en-US" sz="1100" dirty="0"/>
          </a:p>
          <a:p>
            <a:pPr indent="0" marL="0">
              <a:buNone/>
            </a:pPr>
            <a:r>
              <a:rPr lang="en-US" sz="1100" dirty="0">
                <a:solidFill>
                  <a:schemeClr val="accent6"/>
                </a:solidFill>
              </a:rPr>
              <a:t>GitOps tag bump</a:t>
            </a:r>
            <a:endParaRPr lang="en-US" sz="1100" dirty="0"/>
          </a:p>
        </p:txBody>
      </p:sp>
      <p:sp>
        <p:nvSpPr>
          <p:cNvPr id="32" name="frame-m5-pipeline-green.png"/>
          <p:cNvSpPr/>
          <p:nvPr/>
        </p:nvSpPr>
        <p:spPr>
          <a:xfrm>
            <a:off x="420624" y="2478024"/>
            <a:ext cx="4041991" cy="2221992"/>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33" name="shot-m5-pipeline-green.png" descr="Green pipeline run">    </p:cNvPr>
          <p:cNvPicPr>
            <a:picLocks noChangeAspect="1"/>
          </p:cNvPicPr>
          <p:nvPr/>
        </p:nvPicPr>
        <p:blipFill>
          <a:blip r:embed="rId1"/>
          <a:stretch>
            <a:fillRect/>
          </a:stretch>
        </p:blipFill>
        <p:spPr>
          <a:xfrm>
            <a:off x="457200" y="2514600"/>
            <a:ext cx="3968839" cy="2148840"/>
          </a:xfrm>
          <a:prstGeom prst="rect">
            <a:avLst/>
          </a:prstGeom>
        </p:spPr>
      </p:pic>
      <p:sp>
        <p:nvSpPr>
          <p:cNvPr id="34" name="icon-bg-FaCodeBranch"/>
          <p:cNvSpPr/>
          <p:nvPr/>
        </p:nvSpPr>
        <p:spPr>
          <a:xfrm>
            <a:off x="5257800" y="2560320"/>
            <a:ext cx="384048" cy="384048"/>
          </a:xfrm>
          <a:prstGeom prst="ellipse">
            <a:avLst/>
          </a:prstGeom>
          <a:solidFill>
            <a:schemeClr val="accent1"/>
          </a:solidFill>
          <a:ln/>
        </p:spPr>
      </p:sp>
      <p:pic>
        <p:nvPicPr>
          <p:cNvPr id="35" name="icon-FaCodeBranch" descr="preencoded.png">    </p:cNvPr>
          <p:cNvPicPr>
            <a:picLocks noChangeAspect="1"/>
          </p:cNvPicPr>
          <p:nvPr/>
        </p:nvPicPr>
        <p:blipFill>
          <a:blip r:embed="rId2"/>
          <a:stretch>
            <a:fillRect/>
          </a:stretch>
        </p:blipFill>
        <p:spPr>
          <a:xfrm>
            <a:off x="5349972" y="2652492"/>
            <a:ext cx="199705" cy="199705"/>
          </a:xfrm>
          <a:prstGeom prst="rect">
            <a:avLst/>
          </a:prstGeom>
        </p:spPr>
      </p:pic>
      <p:sp>
        <p:nvSpPr>
          <p:cNvPr id="36" name="Text 32"/>
          <p:cNvSpPr txBox="1"/>
          <p:nvPr/>
        </p:nvSpPr>
        <p:spPr>
          <a:xfrm>
            <a:off x="5760720" y="2542032"/>
            <a:ext cx="2926080" cy="566928"/>
          </a:xfrm>
          <a:prstGeom prst="rect">
            <a:avLst/>
          </a:prstGeom>
          <a:noFill/>
          <a:ln/>
        </p:spPr>
        <p:txBody>
          <a:bodyPr wrap="square" lIns="0" tIns="0" rIns="0" bIns="0" rtlCol="0" anchor="t"/>
          <a:lstStyle/>
          <a:p>
            <a:pPr indent="0" marL="0">
              <a:buNone/>
            </a:pPr>
            <a:r>
              <a:rPr lang="en-US" sz="1400" b="1" dirty="0">
                <a:solidFill>
                  <a:schemeClr val="tx1"/>
                </a:solidFill>
              </a:rPr>
              <a:t>Trigger</a:t>
            </a:r>
            <a:endParaRPr lang="en-US" sz="1400" dirty="0"/>
          </a:p>
          <a:p>
            <a:pPr indent="0" marL="0">
              <a:buNone/>
            </a:pPr>
            <a:r>
              <a:rPr lang="en-US" sz="1200" dirty="0">
                <a:solidFill>
                  <a:schemeClr val="accent6"/>
                </a:solidFill>
              </a:rPr>
              <a:t>Every push and pull request to main</a:t>
            </a:r>
            <a:endParaRPr lang="en-US" sz="1400" dirty="0"/>
          </a:p>
        </p:txBody>
      </p:sp>
      <p:sp>
        <p:nvSpPr>
          <p:cNvPr id="37" name="icon-bg-FaTag"/>
          <p:cNvSpPr/>
          <p:nvPr/>
        </p:nvSpPr>
        <p:spPr>
          <a:xfrm>
            <a:off x="5257800" y="3246120"/>
            <a:ext cx="384048" cy="384048"/>
          </a:xfrm>
          <a:prstGeom prst="ellipse">
            <a:avLst/>
          </a:prstGeom>
          <a:solidFill>
            <a:schemeClr val="accent1"/>
          </a:solidFill>
          <a:ln/>
        </p:spPr>
      </p:sp>
      <p:pic>
        <p:nvPicPr>
          <p:cNvPr id="38" name="icon-FaTag" descr="preencoded.png">    </p:cNvPr>
          <p:cNvPicPr>
            <a:picLocks noChangeAspect="1"/>
          </p:cNvPicPr>
          <p:nvPr/>
        </p:nvPicPr>
        <p:blipFill>
          <a:blip r:embed="rId3"/>
          <a:stretch>
            <a:fillRect/>
          </a:stretch>
        </p:blipFill>
        <p:spPr>
          <a:xfrm>
            <a:off x="5349972" y="3338292"/>
            <a:ext cx="199705" cy="199705"/>
          </a:xfrm>
          <a:prstGeom prst="rect">
            <a:avLst/>
          </a:prstGeom>
        </p:spPr>
      </p:pic>
      <p:sp>
        <p:nvSpPr>
          <p:cNvPr id="39" name="Text 34"/>
          <p:cNvSpPr txBox="1"/>
          <p:nvPr/>
        </p:nvSpPr>
        <p:spPr>
          <a:xfrm>
            <a:off x="5760720" y="3227832"/>
            <a:ext cx="2926080" cy="566928"/>
          </a:xfrm>
          <a:prstGeom prst="rect">
            <a:avLst/>
          </a:prstGeom>
          <a:noFill/>
          <a:ln/>
        </p:spPr>
        <p:txBody>
          <a:bodyPr wrap="square" lIns="0" tIns="0" rIns="0" bIns="0" rtlCol="0" anchor="t"/>
          <a:lstStyle/>
          <a:p>
            <a:pPr indent="0" marL="0">
              <a:buNone/>
            </a:pPr>
            <a:r>
              <a:rPr lang="en-US" sz="1400" b="1" dirty="0">
                <a:solidFill>
                  <a:schemeClr val="tx1"/>
                </a:solidFill>
              </a:rPr>
              <a:t>Traceable images</a:t>
            </a:r>
            <a:endParaRPr lang="en-US" sz="1400" dirty="0"/>
          </a:p>
          <a:p>
            <a:pPr indent="0" marL="0">
              <a:buNone/>
            </a:pPr>
            <a:r>
              <a:rPr lang="en-US" sz="1200" dirty="0">
                <a:solidFill>
                  <a:schemeClr val="accent6"/>
                </a:solidFill>
              </a:rPr>
              <a:t>Tag = Git commit SHA, never latest</a:t>
            </a:r>
            <a:endParaRPr lang="en-US" sz="1400" dirty="0"/>
          </a:p>
        </p:txBody>
      </p:sp>
      <p:sp>
        <p:nvSpPr>
          <p:cNvPr id="40" name="icon-bg-FaBan"/>
          <p:cNvSpPr/>
          <p:nvPr/>
        </p:nvSpPr>
        <p:spPr>
          <a:xfrm>
            <a:off x="5257800" y="3931920"/>
            <a:ext cx="384048" cy="384048"/>
          </a:xfrm>
          <a:prstGeom prst="ellipse">
            <a:avLst/>
          </a:prstGeom>
          <a:solidFill>
            <a:schemeClr val="accent2"/>
          </a:solidFill>
          <a:ln/>
        </p:spPr>
      </p:sp>
      <p:pic>
        <p:nvPicPr>
          <p:cNvPr id="41" name="icon-FaBan" descr="preencoded.png">    </p:cNvPr>
          <p:cNvPicPr>
            <a:picLocks noChangeAspect="1"/>
          </p:cNvPicPr>
          <p:nvPr/>
        </p:nvPicPr>
        <p:blipFill>
          <a:blip r:embed="rId4"/>
          <a:stretch>
            <a:fillRect/>
          </a:stretch>
        </p:blipFill>
        <p:spPr>
          <a:xfrm>
            <a:off x="5349972" y="4024092"/>
            <a:ext cx="199705" cy="199705"/>
          </a:xfrm>
          <a:prstGeom prst="rect">
            <a:avLst/>
          </a:prstGeom>
        </p:spPr>
      </p:pic>
      <p:sp>
        <p:nvSpPr>
          <p:cNvPr id="42" name="Text 36"/>
          <p:cNvSpPr txBox="1"/>
          <p:nvPr/>
        </p:nvSpPr>
        <p:spPr>
          <a:xfrm>
            <a:off x="5760720" y="3913632"/>
            <a:ext cx="2926080" cy="566928"/>
          </a:xfrm>
          <a:prstGeom prst="rect">
            <a:avLst/>
          </a:prstGeom>
          <a:noFill/>
          <a:ln/>
        </p:spPr>
        <p:txBody>
          <a:bodyPr wrap="square" lIns="0" tIns="0" rIns="0" bIns="0" rtlCol="0" anchor="t"/>
          <a:lstStyle/>
          <a:p>
            <a:pPr indent="0" marL="0">
              <a:buNone/>
            </a:pPr>
            <a:r>
              <a:rPr lang="en-US" sz="1400" b="1" dirty="0">
                <a:solidFill>
                  <a:schemeClr val="tx1"/>
                </a:solidFill>
              </a:rPr>
              <a:t>Quality gate</a:t>
            </a:r>
            <a:endParaRPr lang="en-US" sz="1400" dirty="0"/>
          </a:p>
          <a:p>
            <a:pPr indent="0" marL="0">
              <a:buNone/>
            </a:pPr>
            <a:r>
              <a:rPr lang="en-US" sz="1200" dirty="0">
                <a:solidFill>
                  <a:schemeClr val="accent6"/>
                </a:solidFill>
              </a:rPr>
              <a:t>A failing test stops the pipeline: nothing is pushed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Security at every layer</a:t>
            </a:r>
            <a:endParaRPr lang="en-US" sz="3200" dirty="0"/>
          </a:p>
        </p:txBody>
      </p:sp>
      <p:sp>
        <p:nvSpPr>
          <p:cNvPr id="3" name="icon-bg-FaCode"/>
          <p:cNvSpPr/>
          <p:nvPr/>
        </p:nvSpPr>
        <p:spPr>
          <a:xfrm>
            <a:off x="457200" y="1188720"/>
            <a:ext cx="384048" cy="384048"/>
          </a:xfrm>
          <a:prstGeom prst="ellipse">
            <a:avLst/>
          </a:prstGeom>
          <a:solidFill>
            <a:schemeClr val="accent1"/>
          </a:solidFill>
          <a:ln/>
        </p:spPr>
      </p:sp>
      <p:pic>
        <p:nvPicPr>
          <p:cNvPr id="4" name="icon-FaCode" descr="preencoded.png">    </p:cNvPr>
          <p:cNvPicPr>
            <a:picLocks noChangeAspect="1"/>
          </p:cNvPicPr>
          <p:nvPr/>
        </p:nvPicPr>
        <p:blipFill>
          <a:blip r:embed="rId1"/>
          <a:stretch>
            <a:fillRect/>
          </a:stretch>
        </p:blipFill>
        <p:spPr>
          <a:xfrm>
            <a:off x="549372" y="1280892"/>
            <a:ext cx="199705" cy="199705"/>
          </a:xfrm>
          <a:prstGeom prst="rect">
            <a:avLst/>
          </a:prstGeom>
        </p:spPr>
      </p:pic>
      <p:sp>
        <p:nvSpPr>
          <p:cNvPr id="5" name="Text 2"/>
          <p:cNvSpPr txBox="1"/>
          <p:nvPr/>
        </p:nvSpPr>
        <p:spPr>
          <a:xfrm>
            <a:off x="960120" y="1170432"/>
            <a:ext cx="3429000" cy="566928"/>
          </a:xfrm>
          <a:prstGeom prst="rect">
            <a:avLst/>
          </a:prstGeom>
          <a:noFill/>
          <a:ln/>
        </p:spPr>
        <p:txBody>
          <a:bodyPr wrap="square" lIns="0" tIns="0" rIns="0" bIns="0" rtlCol="0" anchor="t"/>
          <a:lstStyle/>
          <a:p>
            <a:pPr indent="0" marL="0">
              <a:buNone/>
            </a:pPr>
            <a:r>
              <a:rPr lang="en-US" sz="1400" b="1" dirty="0">
                <a:solidFill>
                  <a:schemeClr val="tx1"/>
                </a:solidFill>
              </a:rPr>
              <a:t>SAST · Bandit</a:t>
            </a:r>
            <a:endParaRPr lang="en-US" sz="1400" dirty="0"/>
          </a:p>
          <a:p>
            <a:pPr indent="0" marL="0">
              <a:buNone/>
            </a:pPr>
            <a:r>
              <a:rPr lang="en-US" sz="1200" dirty="0">
                <a:solidFill>
                  <a:schemeClr val="accent6"/>
                </a:solidFill>
              </a:rPr>
              <a:t>Insecure patterns in my Python code</a:t>
            </a:r>
            <a:endParaRPr lang="en-US" sz="1400" dirty="0"/>
          </a:p>
        </p:txBody>
      </p:sp>
      <p:sp>
        <p:nvSpPr>
          <p:cNvPr id="6" name="icon-bg-FaCubes"/>
          <p:cNvSpPr/>
          <p:nvPr/>
        </p:nvSpPr>
        <p:spPr>
          <a:xfrm>
            <a:off x="457200" y="1874520"/>
            <a:ext cx="384048" cy="384048"/>
          </a:xfrm>
          <a:prstGeom prst="ellipse">
            <a:avLst/>
          </a:prstGeom>
          <a:solidFill>
            <a:schemeClr val="accent1"/>
          </a:solidFill>
          <a:ln/>
        </p:spPr>
      </p:sp>
      <p:pic>
        <p:nvPicPr>
          <p:cNvPr id="7" name="icon-FaCubes" descr="preencoded.png">    </p:cNvPr>
          <p:cNvPicPr>
            <a:picLocks noChangeAspect="1"/>
          </p:cNvPicPr>
          <p:nvPr/>
        </p:nvPicPr>
        <p:blipFill>
          <a:blip r:embed="rId2"/>
          <a:stretch>
            <a:fillRect/>
          </a:stretch>
        </p:blipFill>
        <p:spPr>
          <a:xfrm>
            <a:off x="549372" y="1966692"/>
            <a:ext cx="199705" cy="199705"/>
          </a:xfrm>
          <a:prstGeom prst="rect">
            <a:avLst/>
          </a:prstGeom>
        </p:spPr>
      </p:pic>
      <p:sp>
        <p:nvSpPr>
          <p:cNvPr id="8" name="Text 4"/>
          <p:cNvSpPr txBox="1"/>
          <p:nvPr/>
        </p:nvSpPr>
        <p:spPr>
          <a:xfrm>
            <a:off x="960120" y="1856232"/>
            <a:ext cx="3429000" cy="566928"/>
          </a:xfrm>
          <a:prstGeom prst="rect">
            <a:avLst/>
          </a:prstGeom>
          <a:noFill/>
          <a:ln/>
        </p:spPr>
        <p:txBody>
          <a:bodyPr wrap="square" lIns="0" tIns="0" rIns="0" bIns="0" rtlCol="0" anchor="t"/>
          <a:lstStyle/>
          <a:p>
            <a:pPr indent="0" marL="0">
              <a:buNone/>
            </a:pPr>
            <a:r>
              <a:rPr lang="en-US" sz="1400" b="1" dirty="0">
                <a:solidFill>
                  <a:schemeClr val="tx1"/>
                </a:solidFill>
              </a:rPr>
              <a:t>SCA · pip-audit + npm audit</a:t>
            </a:r>
            <a:endParaRPr lang="en-US" sz="1400" dirty="0"/>
          </a:p>
          <a:p>
            <a:pPr indent="0" marL="0">
              <a:buNone/>
            </a:pPr>
            <a:r>
              <a:rPr lang="en-US" sz="1200" dirty="0">
                <a:solidFill>
                  <a:schemeClr val="accent6"/>
                </a:solidFill>
              </a:rPr>
              <a:t>Known CVEs in dependencies</a:t>
            </a:r>
            <a:endParaRPr lang="en-US" sz="1400" dirty="0"/>
          </a:p>
        </p:txBody>
      </p:sp>
      <p:sp>
        <p:nvSpPr>
          <p:cNvPr id="9" name="icon-bg-FaKey"/>
          <p:cNvSpPr/>
          <p:nvPr/>
        </p:nvSpPr>
        <p:spPr>
          <a:xfrm>
            <a:off x="457200" y="2560320"/>
            <a:ext cx="384048" cy="384048"/>
          </a:xfrm>
          <a:prstGeom prst="ellipse">
            <a:avLst/>
          </a:prstGeom>
          <a:solidFill>
            <a:schemeClr val="accent1"/>
          </a:solidFill>
          <a:ln/>
        </p:spPr>
      </p:sp>
      <p:pic>
        <p:nvPicPr>
          <p:cNvPr id="10" name="icon-FaKey" descr="preencoded.png">    </p:cNvPr>
          <p:cNvPicPr>
            <a:picLocks noChangeAspect="1"/>
          </p:cNvPicPr>
          <p:nvPr/>
        </p:nvPicPr>
        <p:blipFill>
          <a:blip r:embed="rId3"/>
          <a:stretch>
            <a:fillRect/>
          </a:stretch>
        </p:blipFill>
        <p:spPr>
          <a:xfrm>
            <a:off x="549372" y="2652492"/>
            <a:ext cx="199705" cy="199705"/>
          </a:xfrm>
          <a:prstGeom prst="rect">
            <a:avLst/>
          </a:prstGeom>
        </p:spPr>
      </p:pic>
      <p:sp>
        <p:nvSpPr>
          <p:cNvPr id="11" name="Text 6"/>
          <p:cNvSpPr txBox="1"/>
          <p:nvPr/>
        </p:nvSpPr>
        <p:spPr>
          <a:xfrm>
            <a:off x="960120" y="2542032"/>
            <a:ext cx="3429000" cy="566928"/>
          </a:xfrm>
          <a:prstGeom prst="rect">
            <a:avLst/>
          </a:prstGeom>
          <a:noFill/>
          <a:ln/>
        </p:spPr>
        <p:txBody>
          <a:bodyPr wrap="square" lIns="0" tIns="0" rIns="0" bIns="0" rtlCol="0" anchor="t"/>
          <a:lstStyle/>
          <a:p>
            <a:pPr indent="0" marL="0">
              <a:buNone/>
            </a:pPr>
            <a:r>
              <a:rPr lang="en-US" sz="1400" b="1" dirty="0">
                <a:solidFill>
                  <a:schemeClr val="tx1"/>
                </a:solidFill>
              </a:rPr>
              <a:t>Secrets · Gitleaks</a:t>
            </a:r>
            <a:endParaRPr lang="en-US" sz="1400" dirty="0"/>
          </a:p>
          <a:p>
            <a:pPr indent="0" marL="0">
              <a:buNone/>
            </a:pPr>
            <a:r>
              <a:rPr lang="en-US" sz="1200" dirty="0">
                <a:solidFill>
                  <a:schemeClr val="accent6"/>
                </a:solidFill>
              </a:rPr>
              <a:t>Passwords or keys in Git history</a:t>
            </a:r>
            <a:endParaRPr lang="en-US" sz="1400" dirty="0"/>
          </a:p>
        </p:txBody>
      </p:sp>
      <p:sp>
        <p:nvSpPr>
          <p:cNvPr id="12" name="icon-bg-FaFileCode"/>
          <p:cNvSpPr/>
          <p:nvPr/>
        </p:nvSpPr>
        <p:spPr>
          <a:xfrm>
            <a:off x="457200" y="3246120"/>
            <a:ext cx="384048" cy="384048"/>
          </a:xfrm>
          <a:prstGeom prst="ellipse">
            <a:avLst/>
          </a:prstGeom>
          <a:solidFill>
            <a:schemeClr val="accent1"/>
          </a:solidFill>
          <a:ln/>
        </p:spPr>
      </p:sp>
      <p:pic>
        <p:nvPicPr>
          <p:cNvPr id="13" name="icon-FaFileCode" descr="preencoded.png">    </p:cNvPr>
          <p:cNvPicPr>
            <a:picLocks noChangeAspect="1"/>
          </p:cNvPicPr>
          <p:nvPr/>
        </p:nvPicPr>
        <p:blipFill>
          <a:blip r:embed="rId4"/>
          <a:stretch>
            <a:fillRect/>
          </a:stretch>
        </p:blipFill>
        <p:spPr>
          <a:xfrm>
            <a:off x="549372" y="3338292"/>
            <a:ext cx="199705" cy="199705"/>
          </a:xfrm>
          <a:prstGeom prst="rect">
            <a:avLst/>
          </a:prstGeom>
        </p:spPr>
      </p:pic>
      <p:sp>
        <p:nvSpPr>
          <p:cNvPr id="14" name="Text 8"/>
          <p:cNvSpPr txBox="1"/>
          <p:nvPr/>
        </p:nvSpPr>
        <p:spPr>
          <a:xfrm>
            <a:off x="960120" y="3227832"/>
            <a:ext cx="3429000" cy="566928"/>
          </a:xfrm>
          <a:prstGeom prst="rect">
            <a:avLst/>
          </a:prstGeom>
          <a:noFill/>
          <a:ln/>
        </p:spPr>
        <p:txBody>
          <a:bodyPr wrap="square" lIns="0" tIns="0" rIns="0" bIns="0" rtlCol="0" anchor="t"/>
          <a:lstStyle/>
          <a:p>
            <a:pPr indent="0" marL="0">
              <a:buNone/>
            </a:pPr>
            <a:r>
              <a:rPr lang="en-US" sz="1400" b="1" dirty="0">
                <a:solidFill>
                  <a:schemeClr val="tx1"/>
                </a:solidFill>
              </a:rPr>
              <a:t>IaC · Trivy config</a:t>
            </a:r>
            <a:endParaRPr lang="en-US" sz="1400" dirty="0"/>
          </a:p>
          <a:p>
            <a:pPr indent="0" marL="0">
              <a:buNone/>
            </a:pPr>
            <a:r>
              <a:rPr lang="en-US" sz="1200" dirty="0">
                <a:solidFill>
                  <a:schemeClr val="accent6"/>
                </a:solidFill>
              </a:rPr>
              <a:t>Misconfigured Dockerfiles, K8s, Terraform</a:t>
            </a:r>
            <a:endParaRPr lang="en-US" sz="1400" dirty="0"/>
          </a:p>
        </p:txBody>
      </p:sp>
      <p:sp>
        <p:nvSpPr>
          <p:cNvPr id="15" name="icon-bg-FaDocker"/>
          <p:cNvSpPr/>
          <p:nvPr/>
        </p:nvSpPr>
        <p:spPr>
          <a:xfrm>
            <a:off x="457200" y="3931920"/>
            <a:ext cx="384048" cy="384048"/>
          </a:xfrm>
          <a:prstGeom prst="ellipse">
            <a:avLst/>
          </a:prstGeom>
          <a:solidFill>
            <a:schemeClr val="accent1"/>
          </a:solidFill>
          <a:ln/>
        </p:spPr>
      </p:sp>
      <p:pic>
        <p:nvPicPr>
          <p:cNvPr id="16" name="icon-FaDocker" descr="preencoded.png">    </p:cNvPr>
          <p:cNvPicPr>
            <a:picLocks noChangeAspect="1"/>
          </p:cNvPicPr>
          <p:nvPr/>
        </p:nvPicPr>
        <p:blipFill>
          <a:blip r:embed="rId5"/>
          <a:stretch>
            <a:fillRect/>
          </a:stretch>
        </p:blipFill>
        <p:spPr>
          <a:xfrm>
            <a:off x="549372" y="4024092"/>
            <a:ext cx="199705" cy="199705"/>
          </a:xfrm>
          <a:prstGeom prst="rect">
            <a:avLst/>
          </a:prstGeom>
        </p:spPr>
      </p:pic>
      <p:sp>
        <p:nvSpPr>
          <p:cNvPr id="17" name="Text 10"/>
          <p:cNvSpPr txBox="1"/>
          <p:nvPr/>
        </p:nvSpPr>
        <p:spPr>
          <a:xfrm>
            <a:off x="960120" y="3913632"/>
            <a:ext cx="3429000" cy="566928"/>
          </a:xfrm>
          <a:prstGeom prst="rect">
            <a:avLst/>
          </a:prstGeom>
          <a:noFill/>
          <a:ln/>
        </p:spPr>
        <p:txBody>
          <a:bodyPr wrap="square" lIns="0" tIns="0" rIns="0" bIns="0" rtlCol="0" anchor="t"/>
          <a:lstStyle/>
          <a:p>
            <a:pPr indent="0" marL="0">
              <a:buNone/>
            </a:pPr>
            <a:r>
              <a:rPr lang="en-US" sz="1400" b="1" dirty="0">
                <a:solidFill>
                  <a:schemeClr val="tx1"/>
                </a:solidFill>
              </a:rPr>
              <a:t>Containers · Trivy image</a:t>
            </a:r>
            <a:endParaRPr lang="en-US" sz="1400" dirty="0"/>
          </a:p>
          <a:p>
            <a:pPr indent="0" marL="0">
              <a:buNone/>
            </a:pPr>
            <a:r>
              <a:rPr lang="en-US" sz="1200" dirty="0">
                <a:solidFill>
                  <a:schemeClr val="accent6"/>
                </a:solidFill>
              </a:rPr>
              <a:t>Fails the build on HIGH or CRITICAL CVEs</a:t>
            </a:r>
            <a:endParaRPr lang="en-US" sz="1400" dirty="0"/>
          </a:p>
        </p:txBody>
      </p:sp>
      <p:sp>
        <p:nvSpPr>
          <p:cNvPr id="18" name="cve-card"/>
          <p:cNvSpPr/>
          <p:nvPr/>
        </p:nvSpPr>
        <p:spPr>
          <a:xfrm>
            <a:off x="4754880" y="1188720"/>
            <a:ext cx="3931920" cy="1600200"/>
          </a:xfrm>
          <a:prstGeom prst="roundRect">
            <a:avLst>
              <a:gd name="adj" fmla="val 4571"/>
            </a:avLst>
          </a:prstGeom>
          <a:solidFill>
            <a:schemeClr val="bg2"/>
          </a:solidFill>
          <a:ln/>
        </p:spPr>
      </p:sp>
      <p:sp>
        <p:nvSpPr>
          <p:cNvPr id="19" name="Text 12"/>
          <p:cNvSpPr txBox="1"/>
          <p:nvPr/>
        </p:nvSpPr>
        <p:spPr>
          <a:xfrm>
            <a:off x="4983480" y="1280160"/>
            <a:ext cx="356616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47 → 0</a:t>
            </a:r>
            <a:endParaRPr lang="en-US" sz="4400" dirty="0"/>
          </a:p>
        </p:txBody>
      </p:sp>
      <p:sp>
        <p:nvSpPr>
          <p:cNvPr id="20" name="Text 13"/>
          <p:cNvSpPr txBox="1"/>
          <p:nvPr/>
        </p:nvSpPr>
        <p:spPr>
          <a:xfrm>
            <a:off x="4983480" y="2057400"/>
            <a:ext cx="3520440" cy="777240"/>
          </a:xfrm>
          <a:prstGeom prst="rect">
            <a:avLst/>
          </a:prstGeom>
          <a:noFill/>
          <a:ln/>
        </p:spPr>
        <p:txBody>
          <a:bodyPr wrap="square" lIns="0" tIns="0" rIns="0" bIns="0" rtlCol="0" anchor="t"/>
          <a:lstStyle/>
          <a:p>
            <a:pPr indent="0" marL="0">
              <a:buNone/>
            </a:pPr>
            <a:r>
              <a:rPr lang="en-US" sz="1200" dirty="0">
                <a:solidFill>
                  <a:schemeClr val="accent6"/>
                </a:solidFill>
              </a:rPr>
              <a:t>HIGH CVEs after hardening the images: apk upgrade in the nginx image, pip removed from the Python image</a:t>
            </a:r>
            <a:endParaRPr lang="en-US" sz="1200" dirty="0"/>
          </a:p>
        </p:txBody>
      </p:sp>
      <p:sp>
        <p:nvSpPr>
          <p:cNvPr id="21" name="frame-m6-trivy.png"/>
          <p:cNvSpPr/>
          <p:nvPr/>
        </p:nvSpPr>
        <p:spPr>
          <a:xfrm>
            <a:off x="4718304" y="3147005"/>
            <a:ext cx="4005072" cy="1295511"/>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22" name="shot-m6-trivy.png" descr="Trivy scan: 0 vulnerabilities">    </p:cNvPr>
          <p:cNvPicPr>
            <a:picLocks noChangeAspect="1"/>
          </p:cNvPicPr>
          <p:nvPr/>
        </p:nvPicPr>
        <p:blipFill>
          <a:blip r:embed="rId6"/>
          <a:stretch>
            <a:fillRect/>
          </a:stretch>
        </p:blipFill>
        <p:spPr>
          <a:xfrm>
            <a:off x="4754880" y="3183581"/>
            <a:ext cx="3931920" cy="1222359"/>
          </a:xfrm>
          <a:prstGeom prst="rect">
            <a:avLst/>
          </a:prstGeom>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Containers and Kubernetes</a:t>
            </a:r>
            <a:endParaRPr lang="en-US" sz="3200" dirty="0"/>
          </a:p>
        </p:txBody>
      </p:sp>
      <p:sp>
        <p:nvSpPr>
          <p:cNvPr id="3" name="icon-bg-FaUserShield"/>
          <p:cNvSpPr/>
          <p:nvPr/>
        </p:nvSpPr>
        <p:spPr>
          <a:xfrm>
            <a:off x="457200" y="1188720"/>
            <a:ext cx="384048" cy="384048"/>
          </a:xfrm>
          <a:prstGeom prst="ellipse">
            <a:avLst/>
          </a:prstGeom>
          <a:solidFill>
            <a:schemeClr val="accent1"/>
          </a:solidFill>
          <a:ln/>
        </p:spPr>
      </p:sp>
      <p:pic>
        <p:nvPicPr>
          <p:cNvPr id="4" name="icon-FaUserShield" descr="preencoded.png">    </p:cNvPr>
          <p:cNvPicPr>
            <a:picLocks noChangeAspect="1"/>
          </p:cNvPicPr>
          <p:nvPr/>
        </p:nvPicPr>
        <p:blipFill>
          <a:blip r:embed="rId1"/>
          <a:stretch>
            <a:fillRect/>
          </a:stretch>
        </p:blipFill>
        <p:spPr>
          <a:xfrm>
            <a:off x="549372" y="1280892"/>
            <a:ext cx="199705" cy="199705"/>
          </a:xfrm>
          <a:prstGeom prst="rect">
            <a:avLst/>
          </a:prstGeom>
        </p:spPr>
      </p:pic>
      <p:sp>
        <p:nvSpPr>
          <p:cNvPr id="5" name="Text 2"/>
          <p:cNvSpPr txBox="1"/>
          <p:nvPr/>
        </p:nvSpPr>
        <p:spPr>
          <a:xfrm>
            <a:off x="960120" y="1170432"/>
            <a:ext cx="2788920" cy="566928"/>
          </a:xfrm>
          <a:prstGeom prst="rect">
            <a:avLst/>
          </a:prstGeom>
          <a:noFill/>
          <a:ln/>
        </p:spPr>
        <p:txBody>
          <a:bodyPr wrap="square" lIns="0" tIns="0" rIns="0" bIns="0" rtlCol="0" anchor="t"/>
          <a:lstStyle/>
          <a:p>
            <a:pPr indent="0" marL="0">
              <a:buNone/>
            </a:pPr>
            <a:r>
              <a:rPr lang="en-US" sz="1400" b="1" dirty="0">
                <a:solidFill>
                  <a:schemeClr val="tx1"/>
                </a:solidFill>
              </a:rPr>
              <a:t>Non-root images</a:t>
            </a:r>
            <a:endParaRPr lang="en-US" sz="1400" dirty="0"/>
          </a:p>
          <a:p>
            <a:pPr indent="0" marL="0">
              <a:buNone/>
            </a:pPr>
            <a:r>
              <a:rPr lang="en-US" sz="1200" dirty="0">
                <a:solidFill>
                  <a:schemeClr val="accent6"/>
                </a:solidFill>
              </a:rPr>
              <a:t>Backend uid 10001 · frontend nginx uid 101</a:t>
            </a:r>
            <a:endParaRPr lang="en-US" sz="1400" dirty="0"/>
          </a:p>
        </p:txBody>
      </p:sp>
      <p:sp>
        <p:nvSpPr>
          <p:cNvPr id="6" name="icon-bg-FaLayerGroup"/>
          <p:cNvSpPr/>
          <p:nvPr/>
        </p:nvSpPr>
        <p:spPr>
          <a:xfrm>
            <a:off x="457200" y="1920240"/>
            <a:ext cx="384048" cy="384048"/>
          </a:xfrm>
          <a:prstGeom prst="ellipse">
            <a:avLst/>
          </a:prstGeom>
          <a:solidFill>
            <a:schemeClr val="accent1"/>
          </a:solidFill>
          <a:ln/>
        </p:spPr>
      </p:sp>
      <p:pic>
        <p:nvPicPr>
          <p:cNvPr id="7" name="icon-FaLayerGroup" descr="preencoded.png">    </p:cNvPr>
          <p:cNvPicPr>
            <a:picLocks noChangeAspect="1"/>
          </p:cNvPicPr>
          <p:nvPr/>
        </p:nvPicPr>
        <p:blipFill>
          <a:blip r:embed="rId2"/>
          <a:stretch>
            <a:fillRect/>
          </a:stretch>
        </p:blipFill>
        <p:spPr>
          <a:xfrm>
            <a:off x="549372" y="2012412"/>
            <a:ext cx="199705" cy="199705"/>
          </a:xfrm>
          <a:prstGeom prst="rect">
            <a:avLst/>
          </a:prstGeom>
        </p:spPr>
      </p:pic>
      <p:sp>
        <p:nvSpPr>
          <p:cNvPr id="8" name="Text 4"/>
          <p:cNvSpPr txBox="1"/>
          <p:nvPr/>
        </p:nvSpPr>
        <p:spPr>
          <a:xfrm>
            <a:off x="960120" y="1901952"/>
            <a:ext cx="2788920" cy="566928"/>
          </a:xfrm>
          <a:prstGeom prst="rect">
            <a:avLst/>
          </a:prstGeom>
          <a:noFill/>
          <a:ln/>
        </p:spPr>
        <p:txBody>
          <a:bodyPr wrap="square" lIns="0" tIns="0" rIns="0" bIns="0" rtlCol="0" anchor="t"/>
          <a:lstStyle/>
          <a:p>
            <a:pPr indent="0" marL="0">
              <a:buNone/>
            </a:pPr>
            <a:r>
              <a:rPr lang="en-US" sz="1400" b="1" dirty="0">
                <a:solidFill>
                  <a:schemeClr val="tx1"/>
                </a:solidFill>
              </a:rPr>
              <a:t>Multi-stage build</a:t>
            </a:r>
            <a:endParaRPr lang="en-US" sz="1400" dirty="0"/>
          </a:p>
          <a:p>
            <a:pPr indent="0" marL="0">
              <a:buNone/>
            </a:pPr>
            <a:r>
              <a:rPr lang="en-US" sz="1200" dirty="0">
                <a:solidFill>
                  <a:schemeClr val="accent6"/>
                </a:solidFill>
              </a:rPr>
              <a:t>Node builds it, nginx serves it</a:t>
            </a:r>
            <a:endParaRPr lang="en-US" sz="1400" dirty="0"/>
          </a:p>
        </p:txBody>
      </p:sp>
      <p:sp>
        <p:nvSpPr>
          <p:cNvPr id="9" name="icon-bg-FaHeartbeat"/>
          <p:cNvSpPr/>
          <p:nvPr/>
        </p:nvSpPr>
        <p:spPr>
          <a:xfrm>
            <a:off x="457200" y="2651760"/>
            <a:ext cx="384048" cy="384048"/>
          </a:xfrm>
          <a:prstGeom prst="ellipse">
            <a:avLst/>
          </a:prstGeom>
          <a:solidFill>
            <a:schemeClr val="accent1"/>
          </a:solidFill>
          <a:ln/>
        </p:spPr>
      </p:sp>
      <p:pic>
        <p:nvPicPr>
          <p:cNvPr id="10" name="icon-FaHeartbeat" descr="preencoded.png">    </p:cNvPr>
          <p:cNvPicPr>
            <a:picLocks noChangeAspect="1"/>
          </p:cNvPicPr>
          <p:nvPr/>
        </p:nvPicPr>
        <p:blipFill>
          <a:blip r:embed="rId3"/>
          <a:stretch>
            <a:fillRect/>
          </a:stretch>
        </p:blipFill>
        <p:spPr>
          <a:xfrm>
            <a:off x="549372" y="2743932"/>
            <a:ext cx="199705" cy="199705"/>
          </a:xfrm>
          <a:prstGeom prst="rect">
            <a:avLst/>
          </a:prstGeom>
        </p:spPr>
      </p:pic>
      <p:sp>
        <p:nvSpPr>
          <p:cNvPr id="11" name="Text 6"/>
          <p:cNvSpPr txBox="1"/>
          <p:nvPr/>
        </p:nvSpPr>
        <p:spPr>
          <a:xfrm>
            <a:off x="960120" y="2633472"/>
            <a:ext cx="2788920" cy="566928"/>
          </a:xfrm>
          <a:prstGeom prst="rect">
            <a:avLst/>
          </a:prstGeom>
          <a:noFill/>
          <a:ln/>
        </p:spPr>
        <p:txBody>
          <a:bodyPr wrap="square" lIns="0" tIns="0" rIns="0" bIns="0" rtlCol="0" anchor="t"/>
          <a:lstStyle/>
          <a:p>
            <a:pPr indent="0" marL="0">
              <a:buNone/>
            </a:pPr>
            <a:r>
              <a:rPr lang="en-US" sz="1400" b="1" dirty="0">
                <a:solidFill>
                  <a:schemeClr val="tx1"/>
                </a:solidFill>
              </a:rPr>
              <a:t>Health checks + probes</a:t>
            </a:r>
            <a:endParaRPr lang="en-US" sz="1400" dirty="0"/>
          </a:p>
          <a:p>
            <a:pPr indent="0" marL="0">
              <a:buNone/>
            </a:pPr>
            <a:r>
              <a:rPr lang="en-US" sz="1200" dirty="0">
                <a:solidFill>
                  <a:schemeClr val="accent6"/>
                </a:solidFill>
              </a:rPr>
              <a:t>/health liveness · /ready checks the database</a:t>
            </a:r>
            <a:endParaRPr lang="en-US" sz="1400" dirty="0"/>
          </a:p>
        </p:txBody>
      </p:sp>
      <p:sp>
        <p:nvSpPr>
          <p:cNvPr id="12" name="icon-bg-FaLock"/>
          <p:cNvSpPr/>
          <p:nvPr/>
        </p:nvSpPr>
        <p:spPr>
          <a:xfrm>
            <a:off x="457200" y="3383280"/>
            <a:ext cx="384048" cy="384048"/>
          </a:xfrm>
          <a:prstGeom prst="ellipse">
            <a:avLst/>
          </a:prstGeom>
          <a:solidFill>
            <a:schemeClr val="accent1"/>
          </a:solidFill>
          <a:ln/>
        </p:spPr>
      </p:sp>
      <p:pic>
        <p:nvPicPr>
          <p:cNvPr id="13" name="icon-FaLock" descr="preencoded.png">    </p:cNvPr>
          <p:cNvPicPr>
            <a:picLocks noChangeAspect="1"/>
          </p:cNvPicPr>
          <p:nvPr/>
        </p:nvPicPr>
        <p:blipFill>
          <a:blip r:embed="rId4"/>
          <a:stretch>
            <a:fillRect/>
          </a:stretch>
        </p:blipFill>
        <p:spPr>
          <a:xfrm>
            <a:off x="549372" y="3475452"/>
            <a:ext cx="199705" cy="199705"/>
          </a:xfrm>
          <a:prstGeom prst="rect">
            <a:avLst/>
          </a:prstGeom>
        </p:spPr>
      </p:pic>
      <p:sp>
        <p:nvSpPr>
          <p:cNvPr id="14" name="Text 8"/>
          <p:cNvSpPr txBox="1"/>
          <p:nvPr/>
        </p:nvSpPr>
        <p:spPr>
          <a:xfrm>
            <a:off x="960120" y="3364992"/>
            <a:ext cx="2788920" cy="566928"/>
          </a:xfrm>
          <a:prstGeom prst="rect">
            <a:avLst/>
          </a:prstGeom>
          <a:noFill/>
          <a:ln/>
        </p:spPr>
        <p:txBody>
          <a:bodyPr wrap="square" lIns="0" tIns="0" rIns="0" bIns="0" rtlCol="0" anchor="t"/>
          <a:lstStyle/>
          <a:p>
            <a:pPr indent="0" marL="0">
              <a:buNone/>
            </a:pPr>
            <a:r>
              <a:rPr lang="en-US" sz="1400" b="1" dirty="0">
                <a:solidFill>
                  <a:schemeClr val="tx1"/>
                </a:solidFill>
              </a:rPr>
              <a:t>ConfigMap + Secret</a:t>
            </a:r>
            <a:endParaRPr lang="en-US" sz="1400" dirty="0"/>
          </a:p>
          <a:p>
            <a:pPr indent="0" marL="0">
              <a:buNone/>
            </a:pPr>
            <a:r>
              <a:rPr lang="en-US" sz="1200" dirty="0">
                <a:solidFill>
                  <a:schemeClr val="accent6"/>
                </a:solidFill>
              </a:rPr>
              <a:t>Config and DB password outside the image</a:t>
            </a:r>
            <a:endParaRPr lang="en-US" sz="1400" dirty="0"/>
          </a:p>
        </p:txBody>
      </p:sp>
      <p:sp>
        <p:nvSpPr>
          <p:cNvPr id="15" name="frame-m8-helm-terminal.png"/>
          <p:cNvSpPr/>
          <p:nvPr/>
        </p:nvSpPr>
        <p:spPr>
          <a:xfrm>
            <a:off x="3986784" y="1152144"/>
            <a:ext cx="4736592" cy="2110613"/>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16" name="shot-m8-helm-terminal.png" descr="kubectl get pods, services, ingress, hpa, pvc">    </p:cNvPr>
          <p:cNvPicPr>
            <a:picLocks noChangeAspect="1"/>
          </p:cNvPicPr>
          <p:nvPr/>
        </p:nvPicPr>
        <p:blipFill>
          <a:blip r:embed="rId5"/>
          <a:stretch>
            <a:fillRect/>
          </a:stretch>
        </p:blipFill>
        <p:spPr>
          <a:xfrm>
            <a:off x="4023360" y="1188720"/>
            <a:ext cx="4663440" cy="2037461"/>
          </a:xfrm>
          <a:prstGeom prst="rect">
            <a:avLst/>
          </a:prstGeom>
        </p:spPr>
      </p:pic>
      <p:sp>
        <p:nvSpPr>
          <p:cNvPr id="17" name="Text 10"/>
          <p:cNvSpPr txBox="1"/>
          <p:nvPr/>
        </p:nvSpPr>
        <p:spPr>
          <a:xfrm>
            <a:off x="4023360" y="3409061"/>
            <a:ext cx="4663440" cy="502920"/>
          </a:xfrm>
          <a:prstGeom prst="rect">
            <a:avLst/>
          </a:prstGeom>
          <a:noFill/>
          <a:ln/>
        </p:spPr>
        <p:txBody>
          <a:bodyPr wrap="square" lIns="0" tIns="0" rIns="0" bIns="0" rtlCol="0" anchor="t"/>
          <a:lstStyle/>
          <a:p>
            <a:pPr indent="0" marL="0">
              <a:buNone/>
            </a:pPr>
            <a:r>
              <a:rPr lang="en-US" sz="1200" dirty="0">
                <a:solidFill>
                  <a:schemeClr val="accent6"/>
                </a:solidFill>
              </a:rPr>
              <a:t>Helm release: 2 backend + 2 frontend + PostgreSQL pods, ClusterIP services, Ingress, HPA and a bound PVC</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Ingress and autoscaling under load</a:t>
            </a:r>
            <a:endParaRPr lang="en-US" sz="3200" dirty="0"/>
          </a:p>
        </p:txBody>
      </p:sp>
      <p:sp>
        <p:nvSpPr>
          <p:cNvPr id="3" name="frame-m8-ingress.png"/>
          <p:cNvSpPr/>
          <p:nvPr/>
        </p:nvSpPr>
        <p:spPr>
          <a:xfrm>
            <a:off x="420624" y="1152144"/>
            <a:ext cx="4096512" cy="2238283"/>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4" name="shot-m8-ingress.png" descr="App through the Ingress at clinic.local">    </p:cNvPr>
          <p:cNvPicPr>
            <a:picLocks noChangeAspect="1"/>
          </p:cNvPicPr>
          <p:nvPr/>
        </p:nvPicPr>
        <p:blipFill>
          <a:blip r:embed="rId1"/>
          <a:stretch>
            <a:fillRect/>
          </a:stretch>
        </p:blipFill>
        <p:spPr>
          <a:xfrm>
            <a:off x="457200" y="1188720"/>
            <a:ext cx="4023360" cy="2165131"/>
          </a:xfrm>
          <a:prstGeom prst="rect">
            <a:avLst/>
          </a:prstGeom>
        </p:spPr>
      </p:pic>
      <p:sp>
        <p:nvSpPr>
          <p:cNvPr id="5" name="frame-m8-hpa.png"/>
          <p:cNvSpPr/>
          <p:nvPr/>
        </p:nvSpPr>
        <p:spPr>
          <a:xfrm>
            <a:off x="4626864" y="1152144"/>
            <a:ext cx="4096512" cy="1696835"/>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6" name="shot-m8-hpa.png" descr="HPA scaled backend to 6 replicas">    </p:cNvPr>
          <p:cNvPicPr>
            <a:picLocks noChangeAspect="1"/>
          </p:cNvPicPr>
          <p:nvPr/>
        </p:nvPicPr>
        <p:blipFill>
          <a:blip r:embed="rId2"/>
          <a:stretch>
            <a:fillRect/>
          </a:stretch>
        </p:blipFill>
        <p:spPr>
          <a:xfrm>
            <a:off x="4663440" y="1188720"/>
            <a:ext cx="4023360" cy="1623683"/>
          </a:xfrm>
          <a:prstGeom prst="rect">
            <a:avLst/>
          </a:prstGeom>
        </p:spPr>
      </p:pic>
      <p:sp>
        <p:nvSpPr>
          <p:cNvPr id="7" name="Text 3"/>
          <p:cNvSpPr txBox="1"/>
          <p:nvPr/>
        </p:nvSpPr>
        <p:spPr>
          <a:xfrm>
            <a:off x="457200" y="3520440"/>
            <a:ext cx="4023360" cy="274320"/>
          </a:xfrm>
          <a:prstGeom prst="rect">
            <a:avLst/>
          </a:prstGeom>
          <a:noFill/>
          <a:ln/>
        </p:spPr>
        <p:txBody>
          <a:bodyPr wrap="square" lIns="0" tIns="0" rIns="0" bIns="0" rtlCol="0" anchor="t"/>
          <a:lstStyle/>
          <a:p>
            <a:pPr algn="ctr" indent="0" marL="0">
              <a:buNone/>
            </a:pPr>
            <a:r>
              <a:rPr lang="en-US" sz="1200" dirty="0">
                <a:solidFill>
                  <a:schemeClr val="accent6"/>
                </a:solidFill>
              </a:rPr>
              <a:t>http://clinic.local through the nginx Ingress</a:t>
            </a:r>
            <a:endParaRPr lang="en-US" sz="1200" dirty="0"/>
          </a:p>
        </p:txBody>
      </p:sp>
      <p:sp>
        <p:nvSpPr>
          <p:cNvPr id="8" name="Text 4"/>
          <p:cNvSpPr txBox="1"/>
          <p:nvPr/>
        </p:nvSpPr>
        <p:spPr>
          <a:xfrm>
            <a:off x="4663440" y="2788920"/>
            <a:ext cx="4023360" cy="64008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2 → 6</a:t>
            </a:r>
            <a:endParaRPr lang="en-US" sz="3600" dirty="0"/>
          </a:p>
        </p:txBody>
      </p:sp>
      <p:sp>
        <p:nvSpPr>
          <p:cNvPr id="9" name="Text 5"/>
          <p:cNvSpPr txBox="1"/>
          <p:nvPr/>
        </p:nvSpPr>
        <p:spPr>
          <a:xfrm>
            <a:off x="4663440" y="3474720"/>
            <a:ext cx="4023360" cy="457200"/>
          </a:xfrm>
          <a:prstGeom prst="rect">
            <a:avLst/>
          </a:prstGeom>
          <a:noFill/>
          <a:ln/>
        </p:spPr>
        <p:txBody>
          <a:bodyPr wrap="square" lIns="0" tIns="0" rIns="0" bIns="0" rtlCol="0" anchor="t"/>
          <a:lstStyle/>
          <a:p>
            <a:pPr indent="0" marL="0">
              <a:buNone/>
            </a:pPr>
            <a:r>
              <a:rPr lang="en-US" sz="1200" dirty="0">
                <a:solidFill>
                  <a:schemeClr val="accent6"/>
                </a:solidFill>
              </a:rPr>
              <a:t>backend pods when CPU reached 279% of the 70% target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Infrastructure as Code with Terraform</a:t>
            </a:r>
            <a:endParaRPr lang="en-US" sz="3200" dirty="0"/>
          </a:p>
        </p:txBody>
      </p:sp>
      <p:sp>
        <p:nvSpPr>
          <p:cNvPr id="3" name="aws"/>
          <p:cNvSpPr/>
          <p:nvPr/>
        </p:nvSpPr>
        <p:spPr>
          <a:xfrm>
            <a:off x="457200" y="1188720"/>
            <a:ext cx="4937760" cy="3200400"/>
          </a:xfrm>
          <a:prstGeom prst="roundRect">
            <a:avLst>
              <a:gd name="adj" fmla="val 2286"/>
            </a:avLst>
          </a:prstGeom>
          <a:solidFill>
            <a:schemeClr val="bg2"/>
          </a:solidFill>
          <a:ln/>
        </p:spPr>
      </p:sp>
      <p:sp>
        <p:nvSpPr>
          <p:cNvPr id="4" name="icon-bg-FaAws"/>
          <p:cNvSpPr/>
          <p:nvPr/>
        </p:nvSpPr>
        <p:spPr>
          <a:xfrm>
            <a:off x="640080" y="1325880"/>
            <a:ext cx="384048" cy="384048"/>
          </a:xfrm>
          <a:prstGeom prst="ellipse">
            <a:avLst/>
          </a:prstGeom>
          <a:solidFill>
            <a:schemeClr val="accent4"/>
          </a:solidFill>
          <a:ln/>
        </p:spPr>
      </p:sp>
      <p:pic>
        <p:nvPicPr>
          <p:cNvPr id="5" name="icon-FaAws" descr="preencoded.png">    </p:cNvPr>
          <p:cNvPicPr>
            <a:picLocks noChangeAspect="1"/>
          </p:cNvPicPr>
          <p:nvPr/>
        </p:nvPicPr>
        <p:blipFill>
          <a:blip r:embed="rId1"/>
          <a:stretch>
            <a:fillRect/>
          </a:stretch>
        </p:blipFill>
        <p:spPr>
          <a:xfrm>
            <a:off x="732252" y="1418052"/>
            <a:ext cx="199705" cy="199705"/>
          </a:xfrm>
          <a:prstGeom prst="rect">
            <a:avLst/>
          </a:prstGeom>
        </p:spPr>
      </p:pic>
      <p:sp>
        <p:nvSpPr>
          <p:cNvPr id="6" name="Text 3"/>
          <p:cNvSpPr txBox="1"/>
          <p:nvPr/>
        </p:nvSpPr>
        <p:spPr>
          <a:xfrm>
            <a:off x="1143000" y="1371600"/>
            <a:ext cx="3931920" cy="292608"/>
          </a:xfrm>
          <a:prstGeom prst="rect">
            <a:avLst/>
          </a:prstGeom>
          <a:noFill/>
          <a:ln/>
        </p:spPr>
        <p:txBody>
          <a:bodyPr wrap="square" lIns="0" tIns="0" rIns="0" bIns="0" rtlCol="0" anchor="ctr"/>
          <a:lstStyle/>
          <a:p>
            <a:pPr indent="0" marL="0">
              <a:buNone/>
            </a:pPr>
            <a:r>
              <a:rPr lang="en-US" sz="1400" b="1" dirty="0">
                <a:solidFill>
                  <a:schemeClr val="tx1"/>
                </a:solidFill>
              </a:rPr>
              <a:t>AWS · ap-south-1 (Mumbai)</a:t>
            </a:r>
            <a:endParaRPr lang="en-US" sz="1400" dirty="0"/>
          </a:p>
        </p:txBody>
      </p:sp>
      <p:sp>
        <p:nvSpPr>
          <p:cNvPr id="7" name="vpc"/>
          <p:cNvSpPr/>
          <p:nvPr/>
        </p:nvSpPr>
        <p:spPr>
          <a:xfrm>
            <a:off x="685800" y="1874520"/>
            <a:ext cx="4480560" cy="2286000"/>
          </a:xfrm>
          <a:prstGeom prst="roundRect">
            <a:avLst>
              <a:gd name="adj" fmla="val 2400"/>
            </a:avLst>
          </a:prstGeom>
          <a:solidFill>
            <a:schemeClr val="bg1"/>
          </a:solidFill>
          <a:ln w="12700">
            <a:solidFill>
              <a:srgbClr val="0F8B8D"/>
            </a:solidFill>
            <a:prstDash val="dash"/>
          </a:ln>
        </p:spPr>
      </p:sp>
      <p:sp>
        <p:nvSpPr>
          <p:cNvPr id="8" name="Text 5"/>
          <p:cNvSpPr txBox="1"/>
          <p:nvPr/>
        </p:nvSpPr>
        <p:spPr>
          <a:xfrm>
            <a:off x="868680" y="1965960"/>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VPC 10.30.0.0/16</a:t>
            </a:r>
            <a:endParaRPr lang="en-US" sz="1200" dirty="0"/>
          </a:p>
        </p:txBody>
      </p:sp>
      <p:sp>
        <p:nvSpPr>
          <p:cNvPr id="9" name="Shape 6"/>
          <p:cNvSpPr/>
          <p:nvPr/>
        </p:nvSpPr>
        <p:spPr>
          <a:xfrm>
            <a:off x="868680" y="2331720"/>
            <a:ext cx="2057400" cy="777240"/>
          </a:xfrm>
          <a:prstGeom prst="roundRect">
            <a:avLst>
              <a:gd name="adj" fmla="val 5882"/>
            </a:avLst>
          </a:prstGeom>
          <a:solidFill>
            <a:schemeClr val="accent3"/>
          </a:solidFill>
          <a:ln/>
        </p:spPr>
      </p:sp>
      <p:sp>
        <p:nvSpPr>
          <p:cNvPr id="10" name="Text 7"/>
          <p:cNvSpPr txBox="1"/>
          <p:nvPr/>
        </p:nvSpPr>
        <p:spPr>
          <a:xfrm>
            <a:off x="978408" y="2423160"/>
            <a:ext cx="1874520" cy="640080"/>
          </a:xfrm>
          <a:prstGeom prst="rect">
            <a:avLst/>
          </a:prstGeom>
          <a:noFill/>
          <a:ln/>
        </p:spPr>
        <p:txBody>
          <a:bodyPr wrap="square" lIns="0" tIns="0" rIns="0" bIns="0" rtlCol="0" anchor="t"/>
          <a:lstStyle/>
          <a:p>
            <a:pPr indent="0" marL="0">
              <a:buNone/>
            </a:pPr>
            <a:r>
              <a:rPr lang="en-US" sz="1200" b="1" dirty="0">
                <a:solidFill>
                  <a:schemeClr val="bg1"/>
                </a:solidFill>
              </a:rPr>
              <a:t>2 public subnets</a:t>
            </a:r>
            <a:endParaRPr lang="en-US" sz="1400" dirty="0"/>
          </a:p>
          <a:p>
            <a:pPr indent="0" marL="0">
              <a:buNone/>
            </a:pPr>
            <a:r>
              <a:rPr lang="en-US" sz="1100" dirty="0">
                <a:solidFill>
                  <a:schemeClr val="bg1"/>
                </a:solidFill>
              </a:rPr>
              <a:t>Internet + NAT gateway, load balancers</a:t>
            </a:r>
            <a:endParaRPr lang="en-US" sz="1400" dirty="0"/>
          </a:p>
        </p:txBody>
      </p:sp>
      <p:sp>
        <p:nvSpPr>
          <p:cNvPr id="11" name="Shape 8"/>
          <p:cNvSpPr/>
          <p:nvPr/>
        </p:nvSpPr>
        <p:spPr>
          <a:xfrm>
            <a:off x="2971800" y="2331720"/>
            <a:ext cx="2057400" cy="777240"/>
          </a:xfrm>
          <a:prstGeom prst="roundRect">
            <a:avLst>
              <a:gd name="adj" fmla="val 5882"/>
            </a:avLst>
          </a:prstGeom>
          <a:solidFill>
            <a:schemeClr val="tx2"/>
          </a:solidFill>
          <a:ln/>
        </p:spPr>
      </p:sp>
      <p:sp>
        <p:nvSpPr>
          <p:cNvPr id="12" name="Text 9"/>
          <p:cNvSpPr txBox="1"/>
          <p:nvPr/>
        </p:nvSpPr>
        <p:spPr>
          <a:xfrm>
            <a:off x="3081528" y="2423160"/>
            <a:ext cx="1874520" cy="640080"/>
          </a:xfrm>
          <a:prstGeom prst="rect">
            <a:avLst/>
          </a:prstGeom>
          <a:noFill/>
          <a:ln/>
        </p:spPr>
        <p:txBody>
          <a:bodyPr wrap="square" lIns="0" tIns="0" rIns="0" bIns="0" rtlCol="0" anchor="t"/>
          <a:lstStyle/>
          <a:p>
            <a:pPr indent="0" marL="0">
              <a:buNone/>
            </a:pPr>
            <a:r>
              <a:rPr lang="en-US" sz="1200" b="1" dirty="0">
                <a:solidFill>
                  <a:schemeClr val="bg1"/>
                </a:solidFill>
              </a:rPr>
              <a:t>2 private subnets</a:t>
            </a:r>
            <a:endParaRPr lang="en-US" sz="1400" dirty="0"/>
          </a:p>
          <a:p>
            <a:pPr indent="0" marL="0">
              <a:buNone/>
            </a:pPr>
            <a:r>
              <a:rPr lang="en-US" sz="1100" dirty="0">
                <a:solidFill>
                  <a:schemeClr val="bg1"/>
                </a:solidFill>
              </a:rPr>
              <a:t>EKS worker nodes</a:t>
            </a:r>
            <a:endParaRPr lang="en-US" sz="1400" dirty="0"/>
          </a:p>
        </p:txBody>
      </p:sp>
      <p:sp>
        <p:nvSpPr>
          <p:cNvPr id="13" name="Shape 10"/>
          <p:cNvSpPr/>
          <p:nvPr/>
        </p:nvSpPr>
        <p:spPr>
          <a:xfrm>
            <a:off x="868680" y="3291840"/>
            <a:ext cx="4160520" cy="685800"/>
          </a:xfrm>
          <a:prstGeom prst="roundRect">
            <a:avLst>
              <a:gd name="adj" fmla="val 6667"/>
            </a:avLst>
          </a:prstGeom>
          <a:solidFill>
            <a:schemeClr val="accent1"/>
          </a:solidFill>
          <a:ln/>
        </p:spPr>
      </p:sp>
      <p:sp>
        <p:nvSpPr>
          <p:cNvPr id="14" name="Text 11"/>
          <p:cNvSpPr txBox="1"/>
          <p:nvPr/>
        </p:nvSpPr>
        <p:spPr>
          <a:xfrm>
            <a:off x="1005840" y="3401568"/>
            <a:ext cx="3931920" cy="777240"/>
          </a:xfrm>
          <a:prstGeom prst="rect">
            <a:avLst/>
          </a:prstGeom>
          <a:noFill/>
          <a:ln/>
        </p:spPr>
        <p:txBody>
          <a:bodyPr wrap="square" lIns="0" tIns="0" rIns="0" bIns="0" rtlCol="0" anchor="t"/>
          <a:lstStyle/>
          <a:p>
            <a:pPr indent="0" marL="0">
              <a:buNone/>
            </a:pPr>
            <a:r>
              <a:rPr lang="en-US" sz="1300" b="1" dirty="0">
                <a:solidFill>
                  <a:schemeClr val="bg1"/>
                </a:solidFill>
              </a:rPr>
              <a:t>EKS cluster · Kubernetes 1.33</a:t>
            </a:r>
            <a:endParaRPr lang="en-US" sz="1400" dirty="0"/>
          </a:p>
          <a:p>
            <a:pPr indent="0" marL="0">
              <a:buNone/>
            </a:pPr>
            <a:r>
              <a:rPr lang="en-US" sz="1100" dirty="0">
                <a:solidFill>
                  <a:schemeClr val="bg1"/>
                </a:solidFill>
              </a:rPr>
              <a:t>Managed node group 2 × t3.medium · add-ons incl. EBS CSI</a:t>
            </a:r>
            <a:endParaRPr lang="en-US" sz="1400" dirty="0"/>
          </a:p>
        </p:txBody>
      </p:sp>
      <p:sp>
        <p:nvSpPr>
          <p:cNvPr id="15" name="Text 12"/>
          <p:cNvSpPr txBox="1"/>
          <p:nvPr/>
        </p:nvSpPr>
        <p:spPr>
          <a:xfrm>
            <a:off x="5760720" y="1097280"/>
            <a:ext cx="292608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60</a:t>
            </a:r>
            <a:endParaRPr lang="en-US" sz="4000" dirty="0"/>
          </a:p>
        </p:txBody>
      </p:sp>
      <p:sp>
        <p:nvSpPr>
          <p:cNvPr id="16" name="Text 13"/>
          <p:cNvSpPr txBox="1"/>
          <p:nvPr/>
        </p:nvSpPr>
        <p:spPr>
          <a:xfrm>
            <a:off x="5760720" y="1783080"/>
            <a:ext cx="2926080" cy="457200"/>
          </a:xfrm>
          <a:prstGeom prst="rect">
            <a:avLst/>
          </a:prstGeom>
          <a:noFill/>
          <a:ln/>
        </p:spPr>
        <p:txBody>
          <a:bodyPr wrap="square" lIns="0" tIns="0" rIns="0" bIns="0" rtlCol="0" anchor="t"/>
          <a:lstStyle/>
          <a:p>
            <a:pPr indent="0" marL="0">
              <a:buNone/>
            </a:pPr>
            <a:r>
              <a:rPr lang="en-US" sz="1200" dirty="0">
                <a:solidFill>
                  <a:schemeClr val="accent6"/>
                </a:solidFill>
              </a:rPr>
              <a:t>AWS resources in terraform plan</a:t>
            </a:r>
            <a:endParaRPr lang="en-US" sz="1200" dirty="0"/>
          </a:p>
        </p:txBody>
      </p:sp>
      <p:sp>
        <p:nvSpPr>
          <p:cNvPr id="17" name="icon-bg-FaCheckCircle"/>
          <p:cNvSpPr/>
          <p:nvPr/>
        </p:nvSpPr>
        <p:spPr>
          <a:xfrm>
            <a:off x="5760720" y="2331720"/>
            <a:ext cx="384048" cy="384048"/>
          </a:xfrm>
          <a:prstGeom prst="ellipse">
            <a:avLst/>
          </a:prstGeom>
          <a:solidFill>
            <a:schemeClr val="accent5"/>
          </a:solidFill>
          <a:ln/>
        </p:spPr>
      </p:sp>
      <p:pic>
        <p:nvPicPr>
          <p:cNvPr id="18" name="icon-FaCheckCircle" descr="preencoded.png">    </p:cNvPr>
          <p:cNvPicPr>
            <a:picLocks noChangeAspect="1"/>
          </p:cNvPicPr>
          <p:nvPr/>
        </p:nvPicPr>
        <p:blipFill>
          <a:blip r:embed="rId2"/>
          <a:stretch>
            <a:fillRect/>
          </a:stretch>
        </p:blipFill>
        <p:spPr>
          <a:xfrm>
            <a:off x="5852892" y="2423892"/>
            <a:ext cx="199705" cy="199705"/>
          </a:xfrm>
          <a:prstGeom prst="rect">
            <a:avLst/>
          </a:prstGeom>
        </p:spPr>
      </p:pic>
      <p:sp>
        <p:nvSpPr>
          <p:cNvPr id="19" name="Text 15"/>
          <p:cNvSpPr txBox="1"/>
          <p:nvPr/>
        </p:nvSpPr>
        <p:spPr>
          <a:xfrm>
            <a:off x="6263640" y="2313432"/>
            <a:ext cx="2423160" cy="566928"/>
          </a:xfrm>
          <a:prstGeom prst="rect">
            <a:avLst/>
          </a:prstGeom>
          <a:noFill/>
          <a:ln/>
        </p:spPr>
        <p:txBody>
          <a:bodyPr wrap="square" lIns="0" tIns="0" rIns="0" bIns="0" rtlCol="0" anchor="t"/>
          <a:lstStyle/>
          <a:p>
            <a:pPr indent="0" marL="0">
              <a:buNone/>
            </a:pPr>
            <a:r>
              <a:rPr lang="en-US" sz="1400" b="1" dirty="0">
                <a:solidFill>
                  <a:schemeClr val="tx1"/>
                </a:solidFill>
              </a:rPr>
              <a:t>init · fmt · validate · plan</a:t>
            </a:r>
            <a:endParaRPr lang="en-US" sz="1400" dirty="0"/>
          </a:p>
          <a:p>
            <a:pPr indent="0" marL="0">
              <a:buNone/>
            </a:pPr>
            <a:r>
              <a:rPr lang="en-US" sz="1200" dirty="0">
                <a:solidFill>
                  <a:schemeClr val="accent6"/>
                </a:solidFill>
              </a:rPr>
              <a:t>All run against a real AWS account</a:t>
            </a:r>
            <a:endParaRPr lang="en-US" sz="1400" dirty="0"/>
          </a:p>
        </p:txBody>
      </p:sp>
      <p:sp>
        <p:nvSpPr>
          <p:cNvPr id="20" name="icon-bg-FaPiggyBank"/>
          <p:cNvSpPr/>
          <p:nvPr/>
        </p:nvSpPr>
        <p:spPr>
          <a:xfrm>
            <a:off x="5760720" y="3063240"/>
            <a:ext cx="384048" cy="384048"/>
          </a:xfrm>
          <a:prstGeom prst="ellipse">
            <a:avLst/>
          </a:prstGeom>
          <a:solidFill>
            <a:schemeClr val="accent4"/>
          </a:solidFill>
          <a:ln/>
        </p:spPr>
      </p:sp>
      <p:pic>
        <p:nvPicPr>
          <p:cNvPr id="21" name="icon-FaPiggyBank" descr="preencoded.png">    </p:cNvPr>
          <p:cNvPicPr>
            <a:picLocks noChangeAspect="1"/>
          </p:cNvPicPr>
          <p:nvPr/>
        </p:nvPicPr>
        <p:blipFill>
          <a:blip r:embed="rId3"/>
          <a:stretch>
            <a:fillRect/>
          </a:stretch>
        </p:blipFill>
        <p:spPr>
          <a:xfrm>
            <a:off x="5852892" y="3155412"/>
            <a:ext cx="199705" cy="199705"/>
          </a:xfrm>
          <a:prstGeom prst="rect">
            <a:avLst/>
          </a:prstGeom>
        </p:spPr>
      </p:pic>
      <p:sp>
        <p:nvSpPr>
          <p:cNvPr id="22" name="Text 17"/>
          <p:cNvSpPr txBox="1"/>
          <p:nvPr/>
        </p:nvSpPr>
        <p:spPr>
          <a:xfrm>
            <a:off x="6263640" y="3044952"/>
            <a:ext cx="2423160" cy="566928"/>
          </a:xfrm>
          <a:prstGeom prst="rect">
            <a:avLst/>
          </a:prstGeom>
          <a:noFill/>
          <a:ln/>
        </p:spPr>
        <p:txBody>
          <a:bodyPr wrap="square" lIns="0" tIns="0" rIns="0" bIns="0" rtlCol="0" anchor="t"/>
          <a:lstStyle/>
          <a:p>
            <a:pPr indent="0" marL="0">
              <a:buNone/>
            </a:pPr>
            <a:r>
              <a:rPr lang="en-US" sz="1400" b="1" dirty="0">
                <a:solidFill>
                  <a:schemeClr val="tx1"/>
                </a:solidFill>
              </a:rPr>
              <a:t>apply skipped on purpose</a:t>
            </a:r>
            <a:endParaRPr lang="en-US" sz="1400" dirty="0"/>
          </a:p>
          <a:p>
            <a:pPr indent="0" marL="0">
              <a:buNone/>
            </a:pPr>
            <a:r>
              <a:rPr lang="en-US" sz="1200" dirty="0">
                <a:solidFill>
                  <a:schemeClr val="accent6"/>
                </a:solidFill>
              </a:rPr>
              <a:t>EKS and NAT are not in the free tier</a:t>
            </a:r>
            <a:endParaRPr lang="en-US" sz="1400" dirty="0"/>
          </a:p>
        </p:txBody>
      </p:sp>
      <p:sp>
        <p:nvSpPr>
          <p:cNvPr id="23" name="icon-bg-FaLock"/>
          <p:cNvSpPr/>
          <p:nvPr/>
        </p:nvSpPr>
        <p:spPr>
          <a:xfrm>
            <a:off x="5760720" y="3794760"/>
            <a:ext cx="384048" cy="384048"/>
          </a:xfrm>
          <a:prstGeom prst="ellipse">
            <a:avLst/>
          </a:prstGeom>
          <a:solidFill>
            <a:schemeClr val="accent1"/>
          </a:solidFill>
          <a:ln/>
        </p:spPr>
      </p:sp>
      <p:pic>
        <p:nvPicPr>
          <p:cNvPr id="24" name="icon-FaLock" descr="preencoded.png">    </p:cNvPr>
          <p:cNvPicPr>
            <a:picLocks noChangeAspect="1"/>
          </p:cNvPicPr>
          <p:nvPr/>
        </p:nvPicPr>
        <p:blipFill>
          <a:blip r:embed="rId4"/>
          <a:stretch>
            <a:fillRect/>
          </a:stretch>
        </p:blipFill>
        <p:spPr>
          <a:xfrm>
            <a:off x="5852892" y="3886932"/>
            <a:ext cx="199705" cy="199705"/>
          </a:xfrm>
          <a:prstGeom prst="rect">
            <a:avLst/>
          </a:prstGeom>
        </p:spPr>
      </p:pic>
      <p:sp>
        <p:nvSpPr>
          <p:cNvPr id="25" name="Text 19"/>
          <p:cNvSpPr txBox="1"/>
          <p:nvPr/>
        </p:nvSpPr>
        <p:spPr>
          <a:xfrm>
            <a:off x="6263640" y="3776472"/>
            <a:ext cx="2423160" cy="566928"/>
          </a:xfrm>
          <a:prstGeom prst="rect">
            <a:avLst/>
          </a:prstGeom>
          <a:noFill/>
          <a:ln/>
        </p:spPr>
        <p:txBody>
          <a:bodyPr wrap="square" lIns="0" tIns="0" rIns="0" bIns="0" rtlCol="0" anchor="t"/>
          <a:lstStyle/>
          <a:p>
            <a:pPr indent="0" marL="0">
              <a:buNone/>
            </a:pPr>
            <a:r>
              <a:rPr lang="en-US" sz="1400" b="1" dirty="0">
                <a:solidFill>
                  <a:schemeClr val="tx1"/>
                </a:solidFill>
              </a:rPr>
              <a:t>No credentials in Git</a:t>
            </a:r>
            <a:endParaRPr lang="en-US" sz="1400" dirty="0"/>
          </a:p>
          <a:p>
            <a:pPr indent="0" marL="0">
              <a:buNone/>
            </a:pPr>
            <a:r>
              <a:rPr lang="en-US" sz="1200" dirty="0">
                <a:solidFill>
                  <a:schemeClr val="accent6"/>
                </a:solidFill>
              </a:rPr>
              <a:t>tfvars and state are git-ignored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Monitoring and observability</a:t>
            </a:r>
            <a:endParaRPr lang="en-US" sz="3200" dirty="0"/>
          </a:p>
        </p:txBody>
      </p:sp>
      <p:sp>
        <p:nvSpPr>
          <p:cNvPr id="3" name="frame-m9-grafana-dashboard.png"/>
          <p:cNvSpPr/>
          <p:nvPr/>
        </p:nvSpPr>
        <p:spPr>
          <a:xfrm>
            <a:off x="420624" y="1429716"/>
            <a:ext cx="5193792" cy="2947008"/>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4" name="shot-m9-grafana-dashboard.png" descr="Grafana dashboard with live data">    </p:cNvPr>
          <p:cNvPicPr>
            <a:picLocks noChangeAspect="1"/>
          </p:cNvPicPr>
          <p:nvPr/>
        </p:nvPicPr>
        <p:blipFill>
          <a:blip r:embed="rId1"/>
          <a:stretch>
            <a:fillRect/>
          </a:stretch>
        </p:blipFill>
        <p:spPr>
          <a:xfrm>
            <a:off x="457200" y="1466292"/>
            <a:ext cx="5120640" cy="2873856"/>
          </a:xfrm>
          <a:prstGeom prst="rect">
            <a:avLst/>
          </a:prstGeom>
        </p:spPr>
      </p:pic>
      <p:sp>
        <p:nvSpPr>
          <p:cNvPr id="5" name="icon-bg-FaSearch"/>
          <p:cNvSpPr/>
          <p:nvPr/>
        </p:nvSpPr>
        <p:spPr>
          <a:xfrm>
            <a:off x="5852160" y="1234440"/>
            <a:ext cx="384048" cy="384048"/>
          </a:xfrm>
          <a:prstGeom prst="ellipse">
            <a:avLst/>
          </a:prstGeom>
          <a:solidFill>
            <a:schemeClr val="accent4"/>
          </a:solidFill>
          <a:ln/>
        </p:spPr>
      </p:sp>
      <p:pic>
        <p:nvPicPr>
          <p:cNvPr id="6" name="icon-FaSearch" descr="preencoded.png">    </p:cNvPr>
          <p:cNvPicPr>
            <a:picLocks noChangeAspect="1"/>
          </p:cNvPicPr>
          <p:nvPr/>
        </p:nvPicPr>
        <p:blipFill>
          <a:blip r:embed="rId2"/>
          <a:stretch>
            <a:fillRect/>
          </a:stretch>
        </p:blipFill>
        <p:spPr>
          <a:xfrm>
            <a:off x="5944332" y="1326612"/>
            <a:ext cx="199705" cy="199705"/>
          </a:xfrm>
          <a:prstGeom prst="rect">
            <a:avLst/>
          </a:prstGeom>
        </p:spPr>
      </p:pic>
      <p:sp>
        <p:nvSpPr>
          <p:cNvPr id="7" name="Text 3"/>
          <p:cNvSpPr txBox="1"/>
          <p:nvPr/>
        </p:nvSpPr>
        <p:spPr>
          <a:xfrm>
            <a:off x="6355080" y="1216152"/>
            <a:ext cx="2331720" cy="566928"/>
          </a:xfrm>
          <a:prstGeom prst="rect">
            <a:avLst/>
          </a:prstGeom>
          <a:noFill/>
          <a:ln/>
        </p:spPr>
        <p:txBody>
          <a:bodyPr wrap="square" lIns="0" tIns="0" rIns="0" bIns="0" rtlCol="0" anchor="t"/>
          <a:lstStyle/>
          <a:p>
            <a:pPr indent="0" marL="0">
              <a:buNone/>
            </a:pPr>
            <a:r>
              <a:rPr lang="en-US" sz="1400" b="1" dirty="0">
                <a:solidFill>
                  <a:schemeClr val="tx1"/>
                </a:solidFill>
              </a:rPr>
              <a:t>Prometheus</a:t>
            </a:r>
            <a:endParaRPr lang="en-US" sz="1400" dirty="0"/>
          </a:p>
          <a:p>
            <a:pPr indent="0" marL="0">
              <a:buNone/>
            </a:pPr>
            <a:r>
              <a:rPr lang="en-US" sz="1200" dirty="0">
                <a:solidFill>
                  <a:schemeClr val="accent6"/>
                </a:solidFill>
              </a:rPr>
              <a:t>Scrapes /metrics every 15 seconds</a:t>
            </a:r>
            <a:endParaRPr lang="en-US" sz="1400" dirty="0"/>
          </a:p>
        </p:txBody>
      </p:sp>
      <p:sp>
        <p:nvSpPr>
          <p:cNvPr id="8" name="icon-bg-FaChartLine"/>
          <p:cNvSpPr/>
          <p:nvPr/>
        </p:nvSpPr>
        <p:spPr>
          <a:xfrm>
            <a:off x="5852160" y="2057400"/>
            <a:ext cx="384048" cy="384048"/>
          </a:xfrm>
          <a:prstGeom prst="ellipse">
            <a:avLst/>
          </a:prstGeom>
          <a:solidFill>
            <a:schemeClr val="accent4"/>
          </a:solidFill>
          <a:ln/>
        </p:spPr>
      </p:sp>
      <p:pic>
        <p:nvPicPr>
          <p:cNvPr id="9" name="icon-FaChartLine" descr="preencoded.png">    </p:cNvPr>
          <p:cNvPicPr>
            <a:picLocks noChangeAspect="1"/>
          </p:cNvPicPr>
          <p:nvPr/>
        </p:nvPicPr>
        <p:blipFill>
          <a:blip r:embed="rId3"/>
          <a:stretch>
            <a:fillRect/>
          </a:stretch>
        </p:blipFill>
        <p:spPr>
          <a:xfrm>
            <a:off x="5944332" y="2149572"/>
            <a:ext cx="199705" cy="199705"/>
          </a:xfrm>
          <a:prstGeom prst="rect">
            <a:avLst/>
          </a:prstGeom>
        </p:spPr>
      </p:pic>
      <p:sp>
        <p:nvSpPr>
          <p:cNvPr id="10" name="Text 5"/>
          <p:cNvSpPr txBox="1"/>
          <p:nvPr/>
        </p:nvSpPr>
        <p:spPr>
          <a:xfrm>
            <a:off x="6355080" y="2039112"/>
            <a:ext cx="2331720" cy="566928"/>
          </a:xfrm>
          <a:prstGeom prst="rect">
            <a:avLst/>
          </a:prstGeom>
          <a:noFill/>
          <a:ln/>
        </p:spPr>
        <p:txBody>
          <a:bodyPr wrap="square" lIns="0" tIns="0" rIns="0" bIns="0" rtlCol="0" anchor="t"/>
          <a:lstStyle/>
          <a:p>
            <a:pPr indent="0" marL="0">
              <a:buNone/>
            </a:pPr>
            <a:r>
              <a:rPr lang="en-US" sz="1400" b="1" dirty="0">
                <a:solidFill>
                  <a:schemeClr val="tx1"/>
                </a:solidFill>
              </a:rPr>
              <a:t>Grafana dashboard</a:t>
            </a:r>
            <a:endParaRPr lang="en-US" sz="1400" dirty="0"/>
          </a:p>
          <a:p>
            <a:pPr indent="0" marL="0">
              <a:buNone/>
            </a:pPr>
            <a:r>
              <a:rPr lang="en-US" sz="1200" dirty="0">
                <a:solidFill>
                  <a:schemeClr val="accent6"/>
                </a:solidFill>
              </a:rPr>
              <a:t>11 panels: traffic, errors, latency, CPU</a:t>
            </a:r>
            <a:endParaRPr lang="en-US" sz="1400" dirty="0"/>
          </a:p>
        </p:txBody>
      </p:sp>
      <p:sp>
        <p:nvSpPr>
          <p:cNvPr id="11" name="icon-bg-FaBell"/>
          <p:cNvSpPr/>
          <p:nvPr/>
        </p:nvSpPr>
        <p:spPr>
          <a:xfrm>
            <a:off x="5852160" y="2880360"/>
            <a:ext cx="384048" cy="384048"/>
          </a:xfrm>
          <a:prstGeom prst="ellipse">
            <a:avLst/>
          </a:prstGeom>
          <a:solidFill>
            <a:schemeClr val="accent4"/>
          </a:solidFill>
          <a:ln/>
        </p:spPr>
      </p:sp>
      <p:pic>
        <p:nvPicPr>
          <p:cNvPr id="12" name="icon-FaBell" descr="preencoded.png">    </p:cNvPr>
          <p:cNvPicPr>
            <a:picLocks noChangeAspect="1"/>
          </p:cNvPicPr>
          <p:nvPr/>
        </p:nvPicPr>
        <p:blipFill>
          <a:blip r:embed="rId4"/>
          <a:stretch>
            <a:fillRect/>
          </a:stretch>
        </p:blipFill>
        <p:spPr>
          <a:xfrm>
            <a:off x="5944332" y="2972532"/>
            <a:ext cx="199705" cy="199705"/>
          </a:xfrm>
          <a:prstGeom prst="rect">
            <a:avLst/>
          </a:prstGeom>
        </p:spPr>
      </p:pic>
      <p:sp>
        <p:nvSpPr>
          <p:cNvPr id="13" name="Text 7"/>
          <p:cNvSpPr txBox="1"/>
          <p:nvPr/>
        </p:nvSpPr>
        <p:spPr>
          <a:xfrm>
            <a:off x="6355080" y="2862072"/>
            <a:ext cx="2331720" cy="566928"/>
          </a:xfrm>
          <a:prstGeom prst="rect">
            <a:avLst/>
          </a:prstGeom>
          <a:noFill/>
          <a:ln/>
        </p:spPr>
        <p:txBody>
          <a:bodyPr wrap="square" lIns="0" tIns="0" rIns="0" bIns="0" rtlCol="0" anchor="t"/>
          <a:lstStyle/>
          <a:p>
            <a:pPr indent="0" marL="0">
              <a:buNone/>
            </a:pPr>
            <a:r>
              <a:rPr lang="en-US" sz="1400" b="1" dirty="0">
                <a:solidFill>
                  <a:schemeClr val="tx1"/>
                </a:solidFill>
              </a:rPr>
              <a:t>3 alert rules</a:t>
            </a:r>
            <a:endParaRPr lang="en-US" sz="1400" dirty="0"/>
          </a:p>
          <a:p>
            <a:pPr indent="0" marL="0">
              <a:buNone/>
            </a:pPr>
            <a:r>
              <a:rPr lang="en-US" sz="1200" dirty="0">
                <a:solidFill>
                  <a:schemeClr val="accent6"/>
                </a:solidFill>
              </a:rPr>
              <a:t>Backend down · errors · slow p95</a:t>
            </a:r>
            <a:endParaRPr lang="en-US" sz="1400" dirty="0"/>
          </a:p>
        </p:txBody>
      </p:sp>
      <p:sp>
        <p:nvSpPr>
          <p:cNvPr id="14" name="icon-bg-FaCalendarCheck"/>
          <p:cNvSpPr/>
          <p:nvPr/>
        </p:nvSpPr>
        <p:spPr>
          <a:xfrm>
            <a:off x="5852160" y="3703320"/>
            <a:ext cx="384048" cy="384048"/>
          </a:xfrm>
          <a:prstGeom prst="ellipse">
            <a:avLst/>
          </a:prstGeom>
          <a:solidFill>
            <a:schemeClr val="accent4"/>
          </a:solidFill>
          <a:ln/>
        </p:spPr>
      </p:sp>
      <p:pic>
        <p:nvPicPr>
          <p:cNvPr id="15" name="icon-FaCalendarCheck" descr="preencoded.png">    </p:cNvPr>
          <p:cNvPicPr>
            <a:picLocks noChangeAspect="1"/>
          </p:cNvPicPr>
          <p:nvPr/>
        </p:nvPicPr>
        <p:blipFill>
          <a:blip r:embed="rId5"/>
          <a:stretch>
            <a:fillRect/>
          </a:stretch>
        </p:blipFill>
        <p:spPr>
          <a:xfrm>
            <a:off x="5944332" y="3795492"/>
            <a:ext cx="199705" cy="199705"/>
          </a:xfrm>
          <a:prstGeom prst="rect">
            <a:avLst/>
          </a:prstGeom>
        </p:spPr>
      </p:pic>
      <p:sp>
        <p:nvSpPr>
          <p:cNvPr id="16" name="Text 9"/>
          <p:cNvSpPr txBox="1"/>
          <p:nvPr/>
        </p:nvSpPr>
        <p:spPr>
          <a:xfrm>
            <a:off x="6355080" y="3685032"/>
            <a:ext cx="2331720" cy="566928"/>
          </a:xfrm>
          <a:prstGeom prst="rect">
            <a:avLst/>
          </a:prstGeom>
          <a:noFill/>
          <a:ln/>
        </p:spPr>
        <p:txBody>
          <a:bodyPr wrap="square" lIns="0" tIns="0" rIns="0" bIns="0" rtlCol="0" anchor="t"/>
          <a:lstStyle/>
          <a:p>
            <a:pPr indent="0" marL="0">
              <a:buNone/>
            </a:pPr>
            <a:r>
              <a:rPr lang="en-US" sz="1400" b="1" dirty="0">
                <a:solidFill>
                  <a:schemeClr val="tx1"/>
                </a:solidFill>
              </a:rPr>
              <a:t>Business metric</a:t>
            </a:r>
            <a:endParaRPr lang="en-US" sz="1400" dirty="0"/>
          </a:p>
          <a:p>
            <a:pPr indent="0" marL="0">
              <a:buNone/>
            </a:pPr>
            <a:r>
              <a:rPr lang="en-US" sz="1200" dirty="0">
                <a:solidFill>
                  <a:schemeClr val="accent6"/>
                </a:solidFill>
              </a:rPr>
              <a:t>Appointments booked over time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GitOps with Argo CD</a:t>
            </a:r>
            <a:endParaRPr lang="en-US" sz="3200" dirty="0"/>
          </a:p>
        </p:txBody>
      </p:sp>
      <p:sp>
        <p:nvSpPr>
          <p:cNvPr id="3" name="icon-bg-FaCodeBranch"/>
          <p:cNvSpPr/>
          <p:nvPr/>
        </p:nvSpPr>
        <p:spPr>
          <a:xfrm>
            <a:off x="457200" y="1188720"/>
            <a:ext cx="420624" cy="420624"/>
          </a:xfrm>
          <a:prstGeom prst="ellipse">
            <a:avLst/>
          </a:prstGeom>
          <a:solidFill>
            <a:schemeClr val="accent1"/>
          </a:solidFill>
          <a:ln/>
        </p:spPr>
      </p:sp>
      <p:pic>
        <p:nvPicPr>
          <p:cNvPr id="4" name="icon-FaCodeBranch" descr="preencoded.png">    </p:cNvPr>
          <p:cNvPicPr>
            <a:picLocks noChangeAspect="1"/>
          </p:cNvPicPr>
          <p:nvPr/>
        </p:nvPicPr>
        <p:blipFill>
          <a:blip r:embed="rId1"/>
          <a:stretch>
            <a:fillRect/>
          </a:stretch>
        </p:blipFill>
        <p:spPr>
          <a:xfrm>
            <a:off x="558150" y="1289670"/>
            <a:ext cx="218724" cy="218724"/>
          </a:xfrm>
          <a:prstGeom prst="rect">
            <a:avLst/>
          </a:prstGeom>
        </p:spPr>
      </p:pic>
      <p:sp>
        <p:nvSpPr>
          <p:cNvPr id="5" name="Text 2"/>
          <p:cNvSpPr txBox="1"/>
          <p:nvPr/>
        </p:nvSpPr>
        <p:spPr>
          <a:xfrm>
            <a:off x="1005840" y="1188720"/>
            <a:ext cx="2377440" cy="420624"/>
          </a:xfrm>
          <a:prstGeom prst="rect">
            <a:avLst/>
          </a:prstGeom>
          <a:noFill/>
          <a:ln/>
        </p:spPr>
        <p:txBody>
          <a:bodyPr wrap="square" lIns="0" tIns="0" rIns="0" bIns="0" rtlCol="0" anchor="ctr"/>
          <a:lstStyle/>
          <a:p>
            <a:pPr indent="0" marL="0">
              <a:buNone/>
            </a:pPr>
            <a:r>
              <a:rPr lang="en-US" sz="1400" b="1" dirty="0">
                <a:solidFill>
                  <a:schemeClr val="tx1"/>
                </a:solidFill>
              </a:rPr>
              <a:t>git push</a:t>
            </a:r>
            <a:endParaRPr lang="en-US" sz="1400" dirty="0"/>
          </a:p>
        </p:txBody>
      </p:sp>
      <p:sp>
        <p:nvSpPr>
          <p:cNvPr id="6" name="Shape 3"/>
          <p:cNvSpPr/>
          <p:nvPr/>
        </p:nvSpPr>
        <p:spPr>
          <a:xfrm>
            <a:off x="667512" y="1636776"/>
            <a:ext cx="0" cy="228600"/>
          </a:xfrm>
          <a:prstGeom prst="line">
            <a:avLst/>
          </a:prstGeom>
          <a:noFill/>
          <a:ln w="19050">
            <a:solidFill>
              <a:srgbClr val="0F8B8D"/>
            </a:solidFill>
            <a:prstDash val="solid"/>
            <a:tailEnd type="triangle"/>
          </a:ln>
        </p:spPr>
      </p:sp>
      <p:sp>
        <p:nvSpPr>
          <p:cNvPr id="7" name="icon-bg-FaCogs"/>
          <p:cNvSpPr/>
          <p:nvPr/>
        </p:nvSpPr>
        <p:spPr>
          <a:xfrm>
            <a:off x="457200" y="1883664"/>
            <a:ext cx="420624" cy="420624"/>
          </a:xfrm>
          <a:prstGeom prst="ellipse">
            <a:avLst/>
          </a:prstGeom>
          <a:solidFill>
            <a:schemeClr val="accent1"/>
          </a:solidFill>
          <a:ln/>
        </p:spPr>
      </p:sp>
      <p:pic>
        <p:nvPicPr>
          <p:cNvPr id="8" name="icon-FaCogs" descr="preencoded.png">    </p:cNvPr>
          <p:cNvPicPr>
            <a:picLocks noChangeAspect="1"/>
          </p:cNvPicPr>
          <p:nvPr/>
        </p:nvPicPr>
        <p:blipFill>
          <a:blip r:embed="rId2"/>
          <a:stretch>
            <a:fillRect/>
          </a:stretch>
        </p:blipFill>
        <p:spPr>
          <a:xfrm>
            <a:off x="558150" y="1984614"/>
            <a:ext cx="218724" cy="218724"/>
          </a:xfrm>
          <a:prstGeom prst="rect">
            <a:avLst/>
          </a:prstGeom>
        </p:spPr>
      </p:pic>
      <p:sp>
        <p:nvSpPr>
          <p:cNvPr id="9" name="Text 5"/>
          <p:cNvSpPr txBox="1"/>
          <p:nvPr/>
        </p:nvSpPr>
        <p:spPr>
          <a:xfrm>
            <a:off x="1005840" y="1883664"/>
            <a:ext cx="2377440" cy="420624"/>
          </a:xfrm>
          <a:prstGeom prst="rect">
            <a:avLst/>
          </a:prstGeom>
          <a:noFill/>
          <a:ln/>
        </p:spPr>
        <p:txBody>
          <a:bodyPr wrap="square" lIns="0" tIns="0" rIns="0" bIns="0" rtlCol="0" anchor="ctr"/>
          <a:lstStyle/>
          <a:p>
            <a:pPr indent="0" marL="0">
              <a:buNone/>
            </a:pPr>
            <a:r>
              <a:rPr lang="en-US" sz="1400" b="1" dirty="0">
                <a:solidFill>
                  <a:schemeClr val="tx1"/>
                </a:solidFill>
              </a:rPr>
              <a:t>CI builds image (SHA)</a:t>
            </a:r>
            <a:endParaRPr lang="en-US" sz="1400" dirty="0"/>
          </a:p>
        </p:txBody>
      </p:sp>
      <p:sp>
        <p:nvSpPr>
          <p:cNvPr id="10" name="Shape 6"/>
          <p:cNvSpPr/>
          <p:nvPr/>
        </p:nvSpPr>
        <p:spPr>
          <a:xfrm>
            <a:off x="667512" y="2331720"/>
            <a:ext cx="0" cy="228600"/>
          </a:xfrm>
          <a:prstGeom prst="line">
            <a:avLst/>
          </a:prstGeom>
          <a:noFill/>
          <a:ln w="19050">
            <a:solidFill>
              <a:srgbClr val="0F8B8D"/>
            </a:solidFill>
            <a:prstDash val="solid"/>
            <a:tailEnd type="triangle"/>
          </a:ln>
        </p:spPr>
      </p:sp>
      <p:sp>
        <p:nvSpPr>
          <p:cNvPr id="11" name="icon-bg-FaPen"/>
          <p:cNvSpPr/>
          <p:nvPr/>
        </p:nvSpPr>
        <p:spPr>
          <a:xfrm>
            <a:off x="457200" y="2578608"/>
            <a:ext cx="420624" cy="420624"/>
          </a:xfrm>
          <a:prstGeom prst="ellipse">
            <a:avLst/>
          </a:prstGeom>
          <a:solidFill>
            <a:schemeClr val="accent1"/>
          </a:solidFill>
          <a:ln/>
        </p:spPr>
      </p:sp>
      <p:pic>
        <p:nvPicPr>
          <p:cNvPr id="12" name="icon-FaPen" descr="preencoded.png">    </p:cNvPr>
          <p:cNvPicPr>
            <a:picLocks noChangeAspect="1"/>
          </p:cNvPicPr>
          <p:nvPr/>
        </p:nvPicPr>
        <p:blipFill>
          <a:blip r:embed="rId3"/>
          <a:stretch>
            <a:fillRect/>
          </a:stretch>
        </p:blipFill>
        <p:spPr>
          <a:xfrm>
            <a:off x="558150" y="2679558"/>
            <a:ext cx="218724" cy="218724"/>
          </a:xfrm>
          <a:prstGeom prst="rect">
            <a:avLst/>
          </a:prstGeom>
        </p:spPr>
      </p:pic>
      <p:sp>
        <p:nvSpPr>
          <p:cNvPr id="13" name="Text 8"/>
          <p:cNvSpPr txBox="1"/>
          <p:nvPr/>
        </p:nvSpPr>
        <p:spPr>
          <a:xfrm>
            <a:off x="1005840" y="2578608"/>
            <a:ext cx="2377440" cy="420624"/>
          </a:xfrm>
          <a:prstGeom prst="rect">
            <a:avLst/>
          </a:prstGeom>
          <a:noFill/>
          <a:ln/>
        </p:spPr>
        <p:txBody>
          <a:bodyPr wrap="square" lIns="0" tIns="0" rIns="0" bIns="0" rtlCol="0" anchor="ctr"/>
          <a:lstStyle/>
          <a:p>
            <a:pPr indent="0" marL="0">
              <a:buNone/>
            </a:pPr>
            <a:r>
              <a:rPr lang="en-US" sz="1400" b="1" dirty="0">
                <a:solidFill>
                  <a:schemeClr val="tx1"/>
                </a:solidFill>
              </a:rPr>
              <a:t>CI commits new tag</a:t>
            </a:r>
            <a:endParaRPr lang="en-US" sz="1400" dirty="0"/>
          </a:p>
        </p:txBody>
      </p:sp>
      <p:sp>
        <p:nvSpPr>
          <p:cNvPr id="14" name="Shape 9"/>
          <p:cNvSpPr/>
          <p:nvPr/>
        </p:nvSpPr>
        <p:spPr>
          <a:xfrm>
            <a:off x="667512" y="3026664"/>
            <a:ext cx="0" cy="228600"/>
          </a:xfrm>
          <a:prstGeom prst="line">
            <a:avLst/>
          </a:prstGeom>
          <a:noFill/>
          <a:ln w="19050">
            <a:solidFill>
              <a:srgbClr val="0F8B8D"/>
            </a:solidFill>
            <a:prstDash val="solid"/>
            <a:tailEnd type="triangle"/>
          </a:ln>
        </p:spPr>
      </p:sp>
      <p:sp>
        <p:nvSpPr>
          <p:cNvPr id="15" name="icon-bg-FaSyncAlt"/>
          <p:cNvSpPr/>
          <p:nvPr/>
        </p:nvSpPr>
        <p:spPr>
          <a:xfrm>
            <a:off x="457200" y="3273552"/>
            <a:ext cx="420624" cy="420624"/>
          </a:xfrm>
          <a:prstGeom prst="ellipse">
            <a:avLst/>
          </a:prstGeom>
          <a:solidFill>
            <a:schemeClr val="accent1"/>
          </a:solidFill>
          <a:ln/>
        </p:spPr>
      </p:sp>
      <p:pic>
        <p:nvPicPr>
          <p:cNvPr id="16" name="icon-FaSyncAlt" descr="preencoded.png">    </p:cNvPr>
          <p:cNvPicPr>
            <a:picLocks noChangeAspect="1"/>
          </p:cNvPicPr>
          <p:nvPr/>
        </p:nvPicPr>
        <p:blipFill>
          <a:blip r:embed="rId4"/>
          <a:stretch>
            <a:fillRect/>
          </a:stretch>
        </p:blipFill>
        <p:spPr>
          <a:xfrm>
            <a:off x="558150" y="3374502"/>
            <a:ext cx="218724" cy="218724"/>
          </a:xfrm>
          <a:prstGeom prst="rect">
            <a:avLst/>
          </a:prstGeom>
        </p:spPr>
      </p:pic>
      <p:sp>
        <p:nvSpPr>
          <p:cNvPr id="17" name="Text 11"/>
          <p:cNvSpPr txBox="1"/>
          <p:nvPr/>
        </p:nvSpPr>
        <p:spPr>
          <a:xfrm>
            <a:off x="1005840" y="3273552"/>
            <a:ext cx="2377440" cy="420624"/>
          </a:xfrm>
          <a:prstGeom prst="rect">
            <a:avLst/>
          </a:prstGeom>
          <a:noFill/>
          <a:ln/>
        </p:spPr>
        <p:txBody>
          <a:bodyPr wrap="square" lIns="0" tIns="0" rIns="0" bIns="0" rtlCol="0" anchor="ctr"/>
          <a:lstStyle/>
          <a:p>
            <a:pPr indent="0" marL="0">
              <a:buNone/>
            </a:pPr>
            <a:r>
              <a:rPr lang="en-US" sz="1400" b="1" dirty="0">
                <a:solidFill>
                  <a:schemeClr val="tx1"/>
                </a:solidFill>
              </a:rPr>
              <a:t>Argo CD syncs</a:t>
            </a:r>
            <a:endParaRPr lang="en-US" sz="1400" dirty="0"/>
          </a:p>
        </p:txBody>
      </p:sp>
      <p:sp>
        <p:nvSpPr>
          <p:cNvPr id="18" name="Shape 12"/>
          <p:cNvSpPr/>
          <p:nvPr/>
        </p:nvSpPr>
        <p:spPr>
          <a:xfrm>
            <a:off x="667512" y="3721608"/>
            <a:ext cx="0" cy="228600"/>
          </a:xfrm>
          <a:prstGeom prst="line">
            <a:avLst/>
          </a:prstGeom>
          <a:noFill/>
          <a:ln w="19050">
            <a:solidFill>
              <a:srgbClr val="0F8B8D"/>
            </a:solidFill>
            <a:prstDash val="solid"/>
            <a:tailEnd type="triangle"/>
          </a:ln>
        </p:spPr>
      </p:sp>
      <p:sp>
        <p:nvSpPr>
          <p:cNvPr id="19" name="icon-bg-FaServer"/>
          <p:cNvSpPr/>
          <p:nvPr/>
        </p:nvSpPr>
        <p:spPr>
          <a:xfrm>
            <a:off x="457200" y="3968496"/>
            <a:ext cx="420624" cy="420624"/>
          </a:xfrm>
          <a:prstGeom prst="ellipse">
            <a:avLst/>
          </a:prstGeom>
          <a:solidFill>
            <a:schemeClr val="accent1"/>
          </a:solidFill>
          <a:ln/>
        </p:spPr>
      </p:sp>
      <p:pic>
        <p:nvPicPr>
          <p:cNvPr id="20" name="icon-FaServer" descr="preencoded.png">    </p:cNvPr>
          <p:cNvPicPr>
            <a:picLocks noChangeAspect="1"/>
          </p:cNvPicPr>
          <p:nvPr/>
        </p:nvPicPr>
        <p:blipFill>
          <a:blip r:embed="rId5"/>
          <a:stretch>
            <a:fillRect/>
          </a:stretch>
        </p:blipFill>
        <p:spPr>
          <a:xfrm>
            <a:off x="558150" y="4069446"/>
            <a:ext cx="218724" cy="218724"/>
          </a:xfrm>
          <a:prstGeom prst="rect">
            <a:avLst/>
          </a:prstGeom>
        </p:spPr>
      </p:pic>
      <p:sp>
        <p:nvSpPr>
          <p:cNvPr id="21" name="Text 14"/>
          <p:cNvSpPr txBox="1"/>
          <p:nvPr/>
        </p:nvSpPr>
        <p:spPr>
          <a:xfrm>
            <a:off x="1005840" y="3968496"/>
            <a:ext cx="2377440" cy="420624"/>
          </a:xfrm>
          <a:prstGeom prst="rect">
            <a:avLst/>
          </a:prstGeom>
          <a:noFill/>
          <a:ln/>
        </p:spPr>
        <p:txBody>
          <a:bodyPr wrap="square" lIns="0" tIns="0" rIns="0" bIns="0" rtlCol="0" anchor="ctr"/>
          <a:lstStyle/>
          <a:p>
            <a:pPr indent="0" marL="0">
              <a:buNone/>
            </a:pPr>
            <a:r>
              <a:rPr lang="en-US" sz="1400" b="1" dirty="0">
                <a:solidFill>
                  <a:schemeClr val="tx1"/>
                </a:solidFill>
              </a:rPr>
              <a:t>Rolling update</a:t>
            </a:r>
            <a:endParaRPr lang="en-US" sz="1400" dirty="0"/>
          </a:p>
        </p:txBody>
      </p:sp>
      <p:sp>
        <p:nvSpPr>
          <p:cNvPr id="22" name="frame-m9-argocd.png"/>
          <p:cNvSpPr/>
          <p:nvPr/>
        </p:nvSpPr>
        <p:spPr>
          <a:xfrm>
            <a:off x="3529584" y="1180725"/>
            <a:ext cx="5193792" cy="2850630"/>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23" name="shot-m9-argocd.png" descr="Argo CD application synced and healthy">    </p:cNvPr>
          <p:cNvPicPr>
            <a:picLocks noChangeAspect="1"/>
          </p:cNvPicPr>
          <p:nvPr/>
        </p:nvPicPr>
        <p:blipFill>
          <a:blip r:embed="rId6"/>
          <a:stretch>
            <a:fillRect/>
          </a:stretch>
        </p:blipFill>
        <p:spPr>
          <a:xfrm>
            <a:off x="3566160" y="1217301"/>
            <a:ext cx="5120640" cy="2777478"/>
          </a:xfrm>
          <a:prstGeom prst="rect">
            <a:avLst/>
          </a:prstGeom>
        </p:spPr>
      </p:pic>
      <p:sp>
        <p:nvSpPr>
          <p:cNvPr id="24" name="Text 16"/>
          <p:cNvSpPr txBox="1"/>
          <p:nvPr/>
        </p:nvSpPr>
        <p:spPr>
          <a:xfrm>
            <a:off x="3566160" y="4160520"/>
            <a:ext cx="5120640" cy="457200"/>
          </a:xfrm>
          <a:prstGeom prst="rect">
            <a:avLst/>
          </a:prstGeom>
          <a:noFill/>
          <a:ln/>
        </p:spPr>
        <p:txBody>
          <a:bodyPr wrap="square" lIns="0" tIns="0" rIns="0" bIns="0" rtlCol="0" anchor="t"/>
          <a:lstStyle/>
          <a:p>
            <a:pPr indent="0" marL="0">
              <a:buNone/>
            </a:pPr>
            <a:r>
              <a:rPr lang="en-US" sz="1200" dirty="0">
                <a:solidFill>
                  <a:schemeClr val="accent6"/>
                </a:solidFill>
              </a:rPr>
              <a:t>Auto-sync with prune and self-heal: Git is the single source of truth, and manual kubectl changes are reverted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Quality gates that stop bad code</a:t>
            </a:r>
            <a:endParaRPr lang="en-US" sz="3200" dirty="0"/>
          </a:p>
        </p:txBody>
      </p:sp>
      <p:sp>
        <p:nvSpPr>
          <p:cNvPr id="3" name="Text 1"/>
          <p:cNvSpPr txBox="1"/>
          <p:nvPr/>
        </p:nvSpPr>
        <p:spPr>
          <a:xfrm>
            <a:off x="457200" y="1051560"/>
            <a:ext cx="192024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24</a:t>
            </a:r>
            <a:endParaRPr lang="en-US" sz="4000" dirty="0"/>
          </a:p>
        </p:txBody>
      </p:sp>
      <p:sp>
        <p:nvSpPr>
          <p:cNvPr id="4" name="Text 2"/>
          <p:cNvSpPr txBox="1"/>
          <p:nvPr/>
        </p:nvSpPr>
        <p:spPr>
          <a:xfrm>
            <a:off x="457200" y="1737360"/>
            <a:ext cx="1920240" cy="457200"/>
          </a:xfrm>
          <a:prstGeom prst="rect">
            <a:avLst/>
          </a:prstGeom>
          <a:noFill/>
          <a:ln/>
        </p:spPr>
        <p:txBody>
          <a:bodyPr wrap="square" lIns="0" tIns="0" rIns="0" bIns="0" rtlCol="0" anchor="t"/>
          <a:lstStyle/>
          <a:p>
            <a:pPr indent="0" marL="0">
              <a:buNone/>
            </a:pPr>
            <a:r>
              <a:rPr lang="en-US" sz="1200" dirty="0">
                <a:solidFill>
                  <a:schemeClr val="accent6"/>
                </a:solidFill>
              </a:rPr>
              <a:t>API tests on an isolated test database</a:t>
            </a:r>
            <a:endParaRPr lang="en-US" sz="1200" dirty="0"/>
          </a:p>
        </p:txBody>
      </p:sp>
      <p:sp>
        <p:nvSpPr>
          <p:cNvPr id="5" name="Text 3"/>
          <p:cNvSpPr txBox="1"/>
          <p:nvPr/>
        </p:nvSpPr>
        <p:spPr>
          <a:xfrm>
            <a:off x="457200" y="2194560"/>
            <a:ext cx="192024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5</a:t>
            </a:r>
            <a:endParaRPr lang="en-US" sz="4000" dirty="0"/>
          </a:p>
        </p:txBody>
      </p:sp>
      <p:sp>
        <p:nvSpPr>
          <p:cNvPr id="6" name="Text 4"/>
          <p:cNvSpPr txBox="1"/>
          <p:nvPr/>
        </p:nvSpPr>
        <p:spPr>
          <a:xfrm>
            <a:off x="457200" y="2880360"/>
            <a:ext cx="1920240" cy="457200"/>
          </a:xfrm>
          <a:prstGeom prst="rect">
            <a:avLst/>
          </a:prstGeom>
          <a:noFill/>
          <a:ln/>
        </p:spPr>
        <p:txBody>
          <a:bodyPr wrap="square" lIns="0" tIns="0" rIns="0" bIns="0" rtlCol="0" anchor="t"/>
          <a:lstStyle/>
          <a:p>
            <a:pPr indent="0" marL="0">
              <a:buNone/>
            </a:pPr>
            <a:r>
              <a:rPr lang="en-US" sz="1200" dirty="0">
                <a:solidFill>
                  <a:schemeClr val="accent6"/>
                </a:solidFill>
              </a:rPr>
              <a:t>security scanners in the pipeline</a:t>
            </a:r>
            <a:endParaRPr lang="en-US" sz="1200" dirty="0"/>
          </a:p>
        </p:txBody>
      </p:sp>
      <p:sp>
        <p:nvSpPr>
          <p:cNvPr id="7" name="Text 5"/>
          <p:cNvSpPr txBox="1"/>
          <p:nvPr/>
        </p:nvSpPr>
        <p:spPr>
          <a:xfrm>
            <a:off x="457200" y="3337560"/>
            <a:ext cx="1920240" cy="64008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8" name="Text 6"/>
          <p:cNvSpPr txBox="1"/>
          <p:nvPr/>
        </p:nvSpPr>
        <p:spPr>
          <a:xfrm>
            <a:off x="457200" y="4023360"/>
            <a:ext cx="1920240" cy="457200"/>
          </a:xfrm>
          <a:prstGeom prst="rect">
            <a:avLst/>
          </a:prstGeom>
          <a:noFill/>
          <a:ln/>
        </p:spPr>
        <p:txBody>
          <a:bodyPr wrap="square" lIns="0" tIns="0" rIns="0" bIns="0" rtlCol="0" anchor="t"/>
          <a:lstStyle/>
          <a:p>
            <a:pPr indent="0" marL="0">
              <a:buNone/>
            </a:pPr>
            <a:r>
              <a:rPr lang="en-US" sz="1200" dirty="0">
                <a:solidFill>
                  <a:schemeClr val="accent6"/>
                </a:solidFill>
              </a:rPr>
              <a:t>HIGH or CRITICAL CVEs in the images</a:t>
            </a:r>
            <a:endParaRPr lang="en-US" sz="1200" dirty="0"/>
          </a:p>
        </p:txBody>
      </p:sp>
      <p:sp>
        <p:nvSpPr>
          <p:cNvPr id="9" name="frame-m5-pipeline-failed.png"/>
          <p:cNvSpPr/>
          <p:nvPr/>
        </p:nvSpPr>
        <p:spPr>
          <a:xfrm>
            <a:off x="2638716" y="1152144"/>
            <a:ext cx="6061129" cy="3182112"/>
          </a:xfrm>
          <a:prstGeom prst="rect">
            <a:avLst/>
          </a:prstGeom>
          <a:solidFill>
            <a:schemeClr val="bg2"/>
          </a:solidFill>
          <a:ln w="9525">
            <a:solidFill>
              <a:srgbClr val="EEF4F6"/>
            </a:solidFill>
            <a:prstDash val="solid"/>
          </a:ln>
          <a:effectLst>
            <a:outerShdw sx="100000" sy="100000" kx="0" ky="0" algn="bl" rotWithShape="0" blurRad="76200" dist="25400" dir="5400000">
              <a:srgbClr val="0D2B36">
                <a:alpha val="18000"/>
              </a:srgbClr>
            </a:outerShdw>
          </a:effectLst>
        </p:spPr>
      </p:sp>
      <p:pic>
        <p:nvPicPr>
          <p:cNvPr id="10" name="shot-m5-pipeline-failed.png" descr="Pipeline stopped by a failing test">    </p:cNvPr>
          <p:cNvPicPr>
            <a:picLocks noChangeAspect="1"/>
          </p:cNvPicPr>
          <p:nvPr/>
        </p:nvPicPr>
        <p:blipFill>
          <a:blip r:embed="rId1"/>
          <a:stretch>
            <a:fillRect/>
          </a:stretch>
        </p:blipFill>
        <p:spPr>
          <a:xfrm>
            <a:off x="2675292" y="1188720"/>
            <a:ext cx="5987977" cy="3108960"/>
          </a:xfrm>
          <a:prstGeom prst="rect">
            <a:avLst/>
          </a:prstGeom>
        </p:spPr>
      </p:pic>
      <p:sp>
        <p:nvSpPr>
          <p:cNvPr id="11" name="Text 8"/>
          <p:cNvSpPr txBox="1"/>
          <p:nvPr/>
        </p:nvSpPr>
        <p:spPr>
          <a:xfrm>
            <a:off x="2651760" y="4389120"/>
            <a:ext cx="6035040" cy="274320"/>
          </a:xfrm>
          <a:prstGeom prst="rect">
            <a:avLst/>
          </a:prstGeom>
          <a:noFill/>
          <a:ln/>
        </p:spPr>
        <p:txBody>
          <a:bodyPr wrap="square" lIns="0" tIns="0" rIns="0" bIns="0" rtlCol="0" anchor="t"/>
          <a:lstStyle/>
          <a:p>
            <a:pPr algn="ctr" indent="0" marL="0">
              <a:buNone/>
            </a:pPr>
            <a:r>
              <a:rPr lang="en-US" sz="1200" dirty="0">
                <a:solidFill>
                  <a:schemeClr val="accent6"/>
                </a:solidFill>
              </a:rPr>
              <a:t>A deliberately broken test turned the pipeline red: no image was built, pushed or deployed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8229600" cy="685800"/>
          </a:xfrm>
          <a:prstGeom prst="rect">
            <a:avLst/>
          </a:prstGeom>
          <a:noFill/>
          <a:ln/>
        </p:spPr>
        <p:txBody>
          <a:bodyPr wrap="square" lIns="0" tIns="0" rIns="0" bIns="0" rtlCol="0" anchor="ctr"/>
          <a:lstStyle/>
          <a:p>
            <a:pPr algn="l" indent="0" marL="0">
              <a:buNone/>
            </a:pPr>
            <a:r>
              <a:rPr lang="en-US" sz="3600" b="1" dirty="0">
                <a:solidFill>
                  <a:schemeClr val="bg1"/>
                </a:solidFill>
              </a:rPr>
              <a:t>Lessons learned</a:t>
            </a:r>
            <a:endParaRPr lang="en-US" sz="3600" dirty="0"/>
          </a:p>
        </p:txBody>
      </p:sp>
      <p:sp>
        <p:nvSpPr>
          <p:cNvPr id="3" name="icon-bg-FaHeartbeat"/>
          <p:cNvSpPr/>
          <p:nvPr/>
        </p:nvSpPr>
        <p:spPr>
          <a:xfrm>
            <a:off x="457200" y="1371600"/>
            <a:ext cx="457200" cy="457200"/>
          </a:xfrm>
          <a:prstGeom prst="ellipse">
            <a:avLst/>
          </a:prstGeom>
          <a:solidFill>
            <a:schemeClr val="accent1"/>
          </a:solidFill>
          <a:ln/>
        </p:spPr>
      </p:sp>
      <p:pic>
        <p:nvPicPr>
          <p:cNvPr id="4" name="icon-FaHeartbeat" descr="preencoded.png">    </p:cNvPr>
          <p:cNvPicPr>
            <a:picLocks noChangeAspect="1"/>
          </p:cNvPicPr>
          <p:nvPr/>
        </p:nvPicPr>
        <p:blipFill>
          <a:blip r:embed="rId1"/>
          <a:stretch>
            <a:fillRect/>
          </a:stretch>
        </p:blipFill>
        <p:spPr>
          <a:xfrm>
            <a:off x="566928" y="1481328"/>
            <a:ext cx="237744" cy="237744"/>
          </a:xfrm>
          <a:prstGeom prst="rect">
            <a:avLst/>
          </a:prstGeom>
        </p:spPr>
      </p:pic>
      <p:sp>
        <p:nvSpPr>
          <p:cNvPr id="5" name="Text 2"/>
          <p:cNvSpPr txBox="1"/>
          <p:nvPr/>
        </p:nvSpPr>
        <p:spPr>
          <a:xfrm>
            <a:off x="1051560" y="1353312"/>
            <a:ext cx="3474720" cy="685800"/>
          </a:xfrm>
          <a:prstGeom prst="rect">
            <a:avLst/>
          </a:prstGeom>
          <a:noFill/>
          <a:ln/>
        </p:spPr>
        <p:txBody>
          <a:bodyPr wrap="square" lIns="0" tIns="0" rIns="0" bIns="0" rtlCol="0" anchor="t"/>
          <a:lstStyle/>
          <a:p>
            <a:pPr indent="0" marL="0">
              <a:buNone/>
            </a:pPr>
            <a:r>
              <a:rPr lang="en-US" sz="1600" b="1" dirty="0">
                <a:solidFill>
                  <a:schemeClr val="bg1"/>
                </a:solidFill>
              </a:rPr>
              <a:t>Readiness ≠ liveness</a:t>
            </a:r>
            <a:endParaRPr lang="en-US" sz="1400" dirty="0"/>
          </a:p>
          <a:p>
            <a:pPr indent="0" marL="0">
              <a:buNone/>
            </a:pPr>
            <a:r>
              <a:rPr lang="en-US" sz="1300" dirty="0">
                <a:solidFill>
                  <a:schemeClr val="bg2"/>
                </a:solidFill>
              </a:rPr>
              <a:t>/health ignores the DB; /ready checks it</a:t>
            </a:r>
            <a:endParaRPr lang="en-US" sz="1400" dirty="0"/>
          </a:p>
        </p:txBody>
      </p:sp>
      <p:sp>
        <p:nvSpPr>
          <p:cNvPr id="6" name="icon-bg-FaHourglassHalf"/>
          <p:cNvSpPr/>
          <p:nvPr/>
        </p:nvSpPr>
        <p:spPr>
          <a:xfrm>
            <a:off x="4663440" y="1371600"/>
            <a:ext cx="457200" cy="457200"/>
          </a:xfrm>
          <a:prstGeom prst="ellipse">
            <a:avLst/>
          </a:prstGeom>
          <a:solidFill>
            <a:schemeClr val="accent1"/>
          </a:solidFill>
          <a:ln/>
        </p:spPr>
      </p:sp>
      <p:pic>
        <p:nvPicPr>
          <p:cNvPr id="7" name="icon-FaHourglassHalf" descr="preencoded.png">    </p:cNvPr>
          <p:cNvPicPr>
            <a:picLocks noChangeAspect="1"/>
          </p:cNvPicPr>
          <p:nvPr/>
        </p:nvPicPr>
        <p:blipFill>
          <a:blip r:embed="rId2"/>
          <a:stretch>
            <a:fillRect/>
          </a:stretch>
        </p:blipFill>
        <p:spPr>
          <a:xfrm>
            <a:off x="4773168" y="1481328"/>
            <a:ext cx="237744" cy="237744"/>
          </a:xfrm>
          <a:prstGeom prst="rect">
            <a:avLst/>
          </a:prstGeom>
        </p:spPr>
      </p:pic>
      <p:sp>
        <p:nvSpPr>
          <p:cNvPr id="8" name="Text 4"/>
          <p:cNvSpPr txBox="1"/>
          <p:nvPr/>
        </p:nvSpPr>
        <p:spPr>
          <a:xfrm>
            <a:off x="5257800" y="1353312"/>
            <a:ext cx="3474720" cy="685800"/>
          </a:xfrm>
          <a:prstGeom prst="rect">
            <a:avLst/>
          </a:prstGeom>
          <a:noFill/>
          <a:ln/>
        </p:spPr>
        <p:txBody>
          <a:bodyPr wrap="square" lIns="0" tIns="0" rIns="0" bIns="0" rtlCol="0" anchor="t"/>
          <a:lstStyle/>
          <a:p>
            <a:pPr indent="0" marL="0">
              <a:buNone/>
            </a:pPr>
            <a:r>
              <a:rPr lang="en-US" sz="1600" b="1" dirty="0">
                <a:solidFill>
                  <a:schemeClr val="bg1"/>
                </a:solidFill>
              </a:rPr>
              <a:t>Startup order matters</a:t>
            </a:r>
            <a:endParaRPr lang="en-US" sz="1400" dirty="0"/>
          </a:p>
          <a:p>
            <a:pPr indent="0" marL="0">
              <a:buNone/>
            </a:pPr>
            <a:r>
              <a:rPr lang="en-US" sz="1300" dirty="0">
                <a:solidFill>
                  <a:schemeClr val="bg2"/>
                </a:solidFill>
              </a:rPr>
              <a:t>Wait-for-DB + migration lock: zero restarts</a:t>
            </a:r>
            <a:endParaRPr lang="en-US" sz="1400" dirty="0"/>
          </a:p>
        </p:txBody>
      </p:sp>
      <p:sp>
        <p:nvSpPr>
          <p:cNvPr id="9" name="icon-bg-FaShieldAlt"/>
          <p:cNvSpPr/>
          <p:nvPr/>
        </p:nvSpPr>
        <p:spPr>
          <a:xfrm>
            <a:off x="457200" y="2331720"/>
            <a:ext cx="457200" cy="457200"/>
          </a:xfrm>
          <a:prstGeom prst="ellipse">
            <a:avLst/>
          </a:prstGeom>
          <a:solidFill>
            <a:schemeClr val="accent1"/>
          </a:solidFill>
          <a:ln/>
        </p:spPr>
      </p:sp>
      <p:pic>
        <p:nvPicPr>
          <p:cNvPr id="10" name="icon-FaShieldAlt" descr="preencoded.png">    </p:cNvPr>
          <p:cNvPicPr>
            <a:picLocks noChangeAspect="1"/>
          </p:cNvPicPr>
          <p:nvPr/>
        </p:nvPicPr>
        <p:blipFill>
          <a:blip r:embed="rId3"/>
          <a:stretch>
            <a:fillRect/>
          </a:stretch>
        </p:blipFill>
        <p:spPr>
          <a:xfrm>
            <a:off x="566928" y="2441448"/>
            <a:ext cx="237744" cy="237744"/>
          </a:xfrm>
          <a:prstGeom prst="rect">
            <a:avLst/>
          </a:prstGeom>
        </p:spPr>
      </p:pic>
      <p:sp>
        <p:nvSpPr>
          <p:cNvPr id="11" name="Text 6"/>
          <p:cNvSpPr txBox="1"/>
          <p:nvPr/>
        </p:nvSpPr>
        <p:spPr>
          <a:xfrm>
            <a:off x="1051560" y="2313432"/>
            <a:ext cx="3474720" cy="685800"/>
          </a:xfrm>
          <a:prstGeom prst="rect">
            <a:avLst/>
          </a:prstGeom>
          <a:noFill/>
          <a:ln/>
        </p:spPr>
        <p:txBody>
          <a:bodyPr wrap="square" lIns="0" tIns="0" rIns="0" bIns="0" rtlCol="0" anchor="t"/>
          <a:lstStyle/>
          <a:p>
            <a:pPr indent="0" marL="0">
              <a:buNone/>
            </a:pPr>
            <a:r>
              <a:rPr lang="en-US" sz="1600" b="1" dirty="0">
                <a:solidFill>
                  <a:schemeClr val="bg1"/>
                </a:solidFill>
              </a:rPr>
              <a:t>Scanners find real issues</a:t>
            </a:r>
            <a:endParaRPr lang="en-US" sz="1400" dirty="0"/>
          </a:p>
          <a:p>
            <a:pPr indent="0" marL="0">
              <a:buNone/>
            </a:pPr>
            <a:r>
              <a:rPr lang="en-US" sz="1300" dirty="0">
                <a:solidFill>
                  <a:schemeClr val="bg2"/>
                </a:solidFill>
              </a:rPr>
              <a:t>47 HIGH CVEs, fixed in the base images</a:t>
            </a:r>
            <a:endParaRPr lang="en-US" sz="1400" dirty="0"/>
          </a:p>
        </p:txBody>
      </p:sp>
      <p:sp>
        <p:nvSpPr>
          <p:cNvPr id="12" name="icon-bg-FaTag"/>
          <p:cNvSpPr/>
          <p:nvPr/>
        </p:nvSpPr>
        <p:spPr>
          <a:xfrm>
            <a:off x="4663440" y="2331720"/>
            <a:ext cx="457200" cy="457200"/>
          </a:xfrm>
          <a:prstGeom prst="ellipse">
            <a:avLst/>
          </a:prstGeom>
          <a:solidFill>
            <a:schemeClr val="accent1"/>
          </a:solidFill>
          <a:ln/>
        </p:spPr>
      </p:sp>
      <p:pic>
        <p:nvPicPr>
          <p:cNvPr id="13" name="icon-FaTag" descr="preencoded.png">    </p:cNvPr>
          <p:cNvPicPr>
            <a:picLocks noChangeAspect="1"/>
          </p:cNvPicPr>
          <p:nvPr/>
        </p:nvPicPr>
        <p:blipFill>
          <a:blip r:embed="rId4"/>
          <a:stretch>
            <a:fillRect/>
          </a:stretch>
        </p:blipFill>
        <p:spPr>
          <a:xfrm>
            <a:off x="4773168" y="2441448"/>
            <a:ext cx="237744" cy="237744"/>
          </a:xfrm>
          <a:prstGeom prst="rect">
            <a:avLst/>
          </a:prstGeom>
        </p:spPr>
      </p:pic>
      <p:sp>
        <p:nvSpPr>
          <p:cNvPr id="14" name="Text 8"/>
          <p:cNvSpPr txBox="1"/>
          <p:nvPr/>
        </p:nvSpPr>
        <p:spPr>
          <a:xfrm>
            <a:off x="5257800" y="2313432"/>
            <a:ext cx="3474720" cy="685800"/>
          </a:xfrm>
          <a:prstGeom prst="rect">
            <a:avLst/>
          </a:prstGeom>
          <a:noFill/>
          <a:ln/>
        </p:spPr>
        <p:txBody>
          <a:bodyPr wrap="square" lIns="0" tIns="0" rIns="0" bIns="0" rtlCol="0" anchor="t"/>
          <a:lstStyle/>
          <a:p>
            <a:pPr indent="0" marL="0">
              <a:buNone/>
            </a:pPr>
            <a:r>
              <a:rPr lang="en-US" sz="1600" b="1" dirty="0">
                <a:solidFill>
                  <a:schemeClr val="bg1"/>
                </a:solidFill>
              </a:rPr>
              <a:t>Tag with the commit SHA</a:t>
            </a:r>
            <a:endParaRPr lang="en-US" sz="1400" dirty="0"/>
          </a:p>
          <a:p>
            <a:pPr indent="0" marL="0">
              <a:buNone/>
            </a:pPr>
            <a:r>
              <a:rPr lang="en-US" sz="1300" dirty="0">
                <a:solidFill>
                  <a:schemeClr val="bg2"/>
                </a:solidFill>
              </a:rPr>
              <a:t>Every pod traces back to one commit</a:t>
            </a:r>
            <a:endParaRPr lang="en-US" sz="1400" dirty="0"/>
          </a:p>
        </p:txBody>
      </p:sp>
      <p:sp>
        <p:nvSpPr>
          <p:cNvPr id="15" name="Text 9"/>
          <p:cNvSpPr txBox="1"/>
          <p:nvPr/>
        </p:nvSpPr>
        <p:spPr>
          <a:xfrm>
            <a:off x="457200" y="347472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NEXT STEPS</a:t>
            </a:r>
            <a:endParaRPr lang="en-US" sz="1200" dirty="0"/>
          </a:p>
        </p:txBody>
      </p:sp>
      <p:sp>
        <p:nvSpPr>
          <p:cNvPr id="16" name="Text 10"/>
          <p:cNvSpPr txBox="1"/>
          <p:nvPr/>
        </p:nvSpPr>
        <p:spPr>
          <a:xfrm>
            <a:off x="457200" y="3749040"/>
            <a:ext cx="8229600" cy="320040"/>
          </a:xfrm>
          <a:prstGeom prst="rect">
            <a:avLst/>
          </a:prstGeom>
          <a:noFill/>
          <a:ln/>
        </p:spPr>
        <p:txBody>
          <a:bodyPr wrap="square" lIns="0" tIns="0" rIns="0" bIns="0" rtlCol="0" anchor="t"/>
          <a:lstStyle/>
          <a:p>
            <a:pPr indent="0" marL="0">
              <a:buNone/>
            </a:pPr>
            <a:r>
              <a:rPr lang="en-US" sz="1400" dirty="0">
                <a:solidFill>
                  <a:schemeClr val="bg1"/>
                </a:solidFill>
              </a:rPr>
              <a:t>Amazon RDS · TLS with cert-manager · staff login and roles · central logs with Loki</a:t>
            </a:r>
            <a:endParaRPr lang="en-US" sz="1400" dirty="0"/>
          </a:p>
        </p:txBody>
      </p:sp>
      <p:sp>
        <p:nvSpPr>
          <p:cNvPr id="17" name="Text 11"/>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400" b="1" dirty="0">
                <a:solidFill>
                  <a:schemeClr val="accent1"/>
                </a:solidFill>
              </a:rPr>
              <a:t>Thank you  ·  github.com/aryen1101/clinic_managment_devops</a:t>
            </a:r>
            <a:endParaRPr lang="en-US" sz="1400" dirty="0"/>
          </a:p>
        </p:txBody>
      </p:sp>
    </p:spTree>
  </p:cSld>
  <p:clrMapOvr>
    <a:masterClrMapping/>
  </p:clrMapOvr>
</p:sld>
</file>

<file path=ppt/theme/theme1.xml><?xml version="1.0" encoding="utf-8"?>
<a:theme xmlns:a="http://schemas.openxmlformats.org/drawingml/2006/main" name="CareDesk Teal">
  <a:themeElements>
    <a:clrScheme name="CareDesk Teal">
      <a:dk1>
        <a:srgbClr val="0D2B36"/>
      </a:dk1>
      <a:lt1>
        <a:srgbClr val="FFFFFF"/>
      </a:lt1>
      <a:dk2>
        <a:srgbClr val="13212E"/>
      </a:dk2>
      <a:lt2>
        <a:srgbClr val="EEF4F6"/>
      </a:lt2>
      <a:accent1>
        <a:srgbClr val="0F8B8D"/>
      </a:accent1>
      <a:accent2>
        <a:srgbClr val="E5486B"/>
      </a:accent2>
      <a:accent3>
        <a:srgbClr val="3867D6"/>
      </a:accent3>
      <a:accent4>
        <a:srgbClr val="D98A07"/>
      </a:accent4>
      <a:accent5>
        <a:srgbClr val="16A34A"/>
      </a:accent5>
      <a:accent6>
        <a:srgbClr val="64748B"/>
      </a:accent6>
      <a:hlink>
        <a:srgbClr val="0F8B8D"/>
      </a:hlink>
      <a:folHlink>
        <a:srgbClr val="0B6F71"/>
      </a:folHlink>
    </a:clrScheme>
    <a:fontScheme name="CareDesk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CareDesk - Clinic Management DevSecOps Capstone</dc:title>
  <dc:subject>PptxGenJS Presentation</dc:subject>
  <dc:creator>aryen1101</dc:creator>
  <cp:lastModifiedBy>aryen1101</cp:lastModifiedBy>
  <cp:revision>1</cp:revision>
  <dcterms:created xsi:type="dcterms:W3CDTF">2026-10-14T11:34:09Z</dcterms:created>
  <dcterms:modified xsi:type="dcterms:W3CDTF">2026-10-14T11:34:09Z</dcterms:modified>
</cp:coreProperties>
</file>